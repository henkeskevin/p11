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9fc2297544485e" /><Relationship Type="http://schemas.openxmlformats.org/officeDocument/2006/relationships/extended-properties" Target="/docProps/app.xml" Id="R189a1ffe625749e3" /><Relationship Type="http://schemas.openxmlformats.org/officeDocument/2006/relationships/officeDocument" Target="/ppt/presentation.xml" Id="R96791867add143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becb1e3781437c"/>
  </p:sldMasterIdLst>
  <p:notesMasterIdLst>
    <p:notesMasterId xmlns:r="http://schemas.openxmlformats.org/officeDocument/2006/relationships" r:id="Ra78906eedfd343c2"/>
  </p:notesMasterIdLst>
  <p:sldIdLst>
    <p:sldId xmlns:r="http://schemas.openxmlformats.org/officeDocument/2006/relationships" id="256" r:id="Re2a7469d60e54151"/>
    <p:sldId xmlns:r="http://schemas.openxmlformats.org/officeDocument/2006/relationships" id="257" r:id="R4ff1795d08e24d51"/>
    <p:sldId xmlns:r="http://schemas.openxmlformats.org/officeDocument/2006/relationships" id="258" r:id="Rc1ef06ace76b4dd4"/>
    <p:sldId xmlns:r="http://schemas.openxmlformats.org/officeDocument/2006/relationships" id="259" r:id="Rdb116fdb931549e1"/>
    <p:sldId xmlns:r="http://schemas.openxmlformats.org/officeDocument/2006/relationships" id="260" r:id="R783dcc6ef3d240fa"/>
    <p:sldId xmlns:r="http://schemas.openxmlformats.org/officeDocument/2006/relationships" id="261" r:id="Ra1cc31a4de644aa3"/>
    <p:sldId xmlns:r="http://schemas.openxmlformats.org/officeDocument/2006/relationships" id="262" r:id="Rad5344086a6a4be6"/>
    <p:sldId xmlns:r="http://schemas.openxmlformats.org/officeDocument/2006/relationships" id="263" r:id="Ra375ea007edb4665"/>
    <p:sldId xmlns:r="http://schemas.openxmlformats.org/officeDocument/2006/relationships" id="264" r:id="Rddb9b268a6e44a3a"/>
    <p:sldId xmlns:r="http://schemas.openxmlformats.org/officeDocument/2006/relationships" id="265" r:id="R5ab1c71c94cd4cd4"/>
    <p:sldId xmlns:r="http://schemas.openxmlformats.org/officeDocument/2006/relationships" id="266" r:id="Rb4233cd18cfe46be"/>
    <p:sldId xmlns:r="http://schemas.openxmlformats.org/officeDocument/2006/relationships" id="267" r:id="Raf2a7efa29814d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dfa2a4139c40ae" /><Relationship Type="http://schemas.openxmlformats.org/officeDocument/2006/relationships/slideMaster" Target="/ppt/slideMasters/slideMaster1.xml" Id="Rd1becb1e3781437c" /><Relationship Type="http://schemas.openxmlformats.org/officeDocument/2006/relationships/notesMaster" Target="/ppt/notesMasters/notesMaster1.xml" Id="Ra78906eedfd343c2" /><Relationship Type="http://schemas.openxmlformats.org/officeDocument/2006/relationships/presProps" Target="/ppt/presProps.xml" Id="R71e0d3f97f614832" /><Relationship Type="http://schemas.openxmlformats.org/officeDocument/2006/relationships/tableStyles" Target="/ppt/tableStyles.xml" Id="R51a131c0b10f460c" /><Relationship Type="http://schemas.openxmlformats.org/officeDocument/2006/relationships/slide" Target="/ppt/slides/slide1.xml" Id="Re2a7469d60e54151" /><Relationship Type="http://schemas.openxmlformats.org/officeDocument/2006/relationships/slide" Target="/ppt/slides/slide2.xml" Id="R4ff1795d08e24d51" /><Relationship Type="http://schemas.openxmlformats.org/officeDocument/2006/relationships/slide" Target="/ppt/slides/slide3.xml" Id="Rc1ef06ace76b4dd4" /><Relationship Type="http://schemas.openxmlformats.org/officeDocument/2006/relationships/slide" Target="/ppt/slides/slide4.xml" Id="Rdb116fdb931549e1" /><Relationship Type="http://schemas.openxmlformats.org/officeDocument/2006/relationships/slide" Target="/ppt/slides/slide5.xml" Id="R783dcc6ef3d240fa" /><Relationship Type="http://schemas.openxmlformats.org/officeDocument/2006/relationships/slide" Target="/ppt/slides/slide6.xml" Id="Ra1cc31a4de644aa3" /><Relationship Type="http://schemas.openxmlformats.org/officeDocument/2006/relationships/slide" Target="/ppt/slides/slide7.xml" Id="Rad5344086a6a4be6" /><Relationship Type="http://schemas.openxmlformats.org/officeDocument/2006/relationships/slide" Target="/ppt/slides/slide8.xml" Id="Ra375ea007edb4665" /><Relationship Type="http://schemas.openxmlformats.org/officeDocument/2006/relationships/slide" Target="/ppt/slides/slide9.xml" Id="Rddb9b268a6e44a3a" /><Relationship Type="http://schemas.openxmlformats.org/officeDocument/2006/relationships/slide" Target="/ppt/slides/slide10.xml" Id="R5ab1c71c94cd4cd4" /><Relationship Type="http://schemas.openxmlformats.org/officeDocument/2006/relationships/slide" Target="/ppt/slides/slide11.xml" Id="Rb4233cd18cfe46be" /><Relationship Type="http://schemas.openxmlformats.org/officeDocument/2006/relationships/slide" Target="/ppt/slides/slide12.xml" Id="Raf2a7efa29814d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7253f232f847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21bc3f6fdd437a" /><Relationship Type="http://schemas.openxmlformats.org/officeDocument/2006/relationships/notesMaster" Target="/ppt/notesMasters/notesMaster1.xml" Id="R7bb10ea4594d41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4628f3f8b74d96" /><Relationship Type="http://schemas.openxmlformats.org/officeDocument/2006/relationships/notesMaster" Target="/ppt/notesMasters/notesMaster1.xml" Id="Rc671d4d3dbba45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29e229329d4a76" /><Relationship Type="http://schemas.openxmlformats.org/officeDocument/2006/relationships/notesMaster" Target="/ppt/notesMasters/notesMaster1.xml" Id="Rd186690e184d47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60ae65e60341bc" /><Relationship Type="http://schemas.openxmlformats.org/officeDocument/2006/relationships/notesMaster" Target="/ppt/notesMasters/notesMaster1.xml" Id="R706de559b58b43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e8063278de4837" /><Relationship Type="http://schemas.openxmlformats.org/officeDocument/2006/relationships/notesMaster" Target="/ppt/notesMasters/notesMaster1.xml" Id="R535d6d135fdc4d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35a39dd10f4691" /><Relationship Type="http://schemas.openxmlformats.org/officeDocument/2006/relationships/notesMaster" Target="/ppt/notesMasters/notesMaster1.xml" Id="Ra190d3e4e74c4c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5063e376e84361" /><Relationship Type="http://schemas.openxmlformats.org/officeDocument/2006/relationships/notesMaster" Target="/ppt/notesMasters/notesMaster1.xml" Id="R9754d76bfbfd49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b7383cb42e497d" /><Relationship Type="http://schemas.openxmlformats.org/officeDocument/2006/relationships/notesMaster" Target="/ppt/notesMasters/notesMaster1.xml" Id="Rd6f8b08977224d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a0bfd44ce34033" /><Relationship Type="http://schemas.openxmlformats.org/officeDocument/2006/relationships/notesMaster" Target="/ppt/notesMasters/notesMaster1.xml" Id="R4d19428c73a046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a206ad944f47fa" /><Relationship Type="http://schemas.openxmlformats.org/officeDocument/2006/relationships/notesMaster" Target="/ppt/notesMasters/notesMaster1.xml" Id="Rfc6931fec36940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ac87fa76ce473f" /><Relationship Type="http://schemas.openxmlformats.org/officeDocument/2006/relationships/notesMaster" Target="/ppt/notesMasters/notesMaster1.xml" Id="R5094b121f4e04c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00d7b977cf479a" /><Relationship Type="http://schemas.openxmlformats.org/officeDocument/2006/relationships/notesMaster" Target="/ppt/notesMasters/notesMaster1.xml" Id="R93e55e5959484c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docs/cahier_des_charges.md</a:t>
            </a:r>
          </a:p>
          <a:p xmlns:a="http://schemas.openxmlformats.org/drawingml/2006/main">
            <a:r>
              <a:t>- docs/audit_initial.md</a:t>
            </a:r>
          </a:p>
          <a:p xmlns:a="http://schemas.openxmlformats.org/drawingml/2006/main">
            <a:r>
              <a:t>- https://trello.com/b/swp5d7fb/p11-partie-1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docs/audit_initial.md</a:t>
            </a:r>
          </a:p>
          <a:p xmlns:a="http://schemas.openxmlformats.org/drawingml/2006/main">
            <a:r>
              <a:t>- reports/tables/indicateurs_cles.json</a:t>
            </a:r>
          </a:p>
          <a:p xmlns:a="http://schemas.openxmlformats.org/drawingml/2006/main">
            <a:r>
              <a:t>- reports/figures/01_rapprochement_sources.png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https://trello.com/b/swp5d7fb/p11-partie-1</a:t>
            </a:r>
          </a:p>
          <a:p xmlns:a="http://schemas.openxmlformats.org/drawingml/2006/main">
            <a:r>
              <a:t>- Trello connector snapshot — 25 août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archive/original/MANIFEST.md</a:t>
            </a:r>
          </a:p>
          <a:p xmlns:a="http://schemas.openxmlformats.org/drawingml/2006/main">
            <a:r>
              <a:t>- reports/tables/baseline_execution.json</a:t>
            </a:r>
          </a:p>
          <a:p xmlns:a="http://schemas.openxmlformats.org/drawingml/2006/main">
            <a:r>
              <a:t>- docs/audit_initial.md</a:t>
            </a:r>
          </a:p>
          <a:p xmlns:a="http://schemas.openxmlformats.org/drawingml/2006/main">
            <a:r>
              <a:t>- Trello cards E01–E04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src/bottleneck_analysis/</a:t>
            </a:r>
          </a:p>
          <a:p xmlns:a="http://schemas.openxmlformats.org/drawingml/2006/main">
            <a:r>
              <a:t>- scripts/</a:t>
            </a:r>
          </a:p>
          <a:p xmlns:a="http://schemas.openxmlformats.org/drawingml/2006/main">
            <a:r>
              <a:t>- notebooks/BottleNeck_analyse_portfolio.ipynb</a:t>
            </a:r>
          </a:p>
          <a:p xmlns:a="http://schemas.openxmlformats.org/drawingml/2006/main">
            <a:r>
              <a:t>- tests/</a:t>
            </a:r>
          </a:p>
          <a:p xmlns:a="http://schemas.openxmlformats.org/drawingml/2006/main">
            <a:r>
              <a:t>- Trello card E05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reports/tables/registre_qualite.csv</a:t>
            </a:r>
          </a:p>
          <a:p xmlns:a="http://schemas.openxmlformats.org/drawingml/2006/main">
            <a:r>
              <a:t>- reports/figures/08_typologie_alertes.png</a:t>
            </a:r>
          </a:p>
          <a:p xmlns:a="http://schemas.openxmlformats.org/drawingml/2006/main">
            <a:r>
              <a:t>- docs/registre_ameliorations.md</a:t>
            </a:r>
          </a:p>
          <a:p xmlns:a="http://schemas.openxmlformats.org/drawingml/2006/main">
            <a:r>
              <a:t>- Trello card E06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docs/registre_experiences_ia.md</a:t>
            </a:r>
          </a:p>
          <a:p xmlns:a="http://schemas.openxmlformats.org/drawingml/2006/main">
            <a:r>
              <a:t>- src/bottleneck_analysis/experiments.py</a:t>
            </a:r>
          </a:p>
          <a:p xmlns:a="http://schemas.openxmlformats.org/drawingml/2006/main">
            <a:r>
              <a:t>- src/bottleneck_analysis/outliers.py</a:t>
            </a:r>
          </a:p>
          <a:p xmlns:a="http://schemas.openxmlformats.org/drawingml/2006/main">
            <a:r>
              <a:t>- experiments/compare_validators.py</a:t>
            </a:r>
          </a:p>
          <a:p xmlns:a="http://schemas.openxmlformats.org/drawingml/2006/main">
            <a:r>
              <a:t>- Trello cards E07–E08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reports/tables/comparaison_selection_lignes_web.csv</a:t>
            </a:r>
          </a:p>
          <a:p xmlns:a="http://schemas.openxmlformats.org/drawingml/2006/main">
            <a:r>
              <a:t>- docs/registre_ameliorations.md — A-007</a:t>
            </a:r>
          </a:p>
          <a:p xmlns:a="http://schemas.openxmlformats.org/drawingml/2006/main">
            <a:r>
              <a:t>- Trello card E10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reports/tables/comparaison_methodes_outliers.csv</a:t>
            </a:r>
          </a:p>
          <a:p xmlns:a="http://schemas.openxmlformats.org/drawingml/2006/main">
            <a:r>
              <a:t>- reports/figures/04_prix_inhabituels.png</a:t>
            </a:r>
          </a:p>
          <a:p xmlns:a="http://schemas.openxmlformats.org/drawingml/2006/main">
            <a:r>
              <a:t>- docs/registre_ameliorations.md — A-010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reports/tables/comparaison_validateurs.csv</a:t>
            </a:r>
          </a:p>
          <a:p xmlns:a="http://schemas.openxmlformats.org/drawingml/2006/main">
            <a:r>
              <a:t>- experiments/compare_validators.py</a:t>
            </a:r>
          </a:p>
          <a:p xmlns:a="http://schemas.openxmlformats.org/drawingml/2006/main">
            <a:r>
              <a:t>- docs/registre_ameliorations.md — A-011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docs/registre_ameliorations.md</a:t>
            </a:r>
          </a:p>
          <a:p xmlns:a="http://schemas.openxmlformats.org/drawingml/2006/main">
            <a:r>
              <a:t>- tests/</a:t>
            </a:r>
          </a:p>
          <a:p xmlns:a="http://schemas.openxmlformats.org/drawingml/2006/main">
            <a:r>
              <a:t>- reports/tables/final_validation.json</a:t>
            </a:r>
          </a:p>
          <a:p xmlns:a="http://schemas.openxmlformats.org/drawingml/2006/main">
            <a:r>
              <a:t>- Trello cards E09–E12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reports/tables/final_validation.json</a:t>
            </a:r>
          </a:p>
          <a:p xmlns:a="http://schemas.openxmlformats.org/drawingml/2006/main">
            <a:r>
              <a:t>- reports/tables/indicateurs_cles.json</a:t>
            </a:r>
          </a:p>
          <a:p xmlns:a="http://schemas.openxmlformats.org/drawingml/2006/main">
            <a:r>
              <a:t>- docs/limites_biais.md</a:t>
            </a:r>
          </a:p>
          <a:p xmlns:a="http://schemas.openxmlformats.org/drawingml/2006/main">
            <a:r>
              <a:t>- notebooks/BottleNeck_analyse_portfolio.ipynb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ee503d53514d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504ce6527f46f8" /><Relationship Type="http://schemas.openxmlformats.org/officeDocument/2006/relationships/slideLayout" Target="/ppt/slideLayouts/slideLayout1.xml" Id="R72f4f86e6e5748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f4f86e6e5748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c90938abc428e" /><Relationship Type="http://schemas.openxmlformats.org/officeDocument/2006/relationships/notesSlide" Target="/ppt/notesSlides/notesSlide1.xml" Id="Rd58f7cf1bbd34e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902b0acff4dee" /><Relationship Type="http://schemas.openxmlformats.org/officeDocument/2006/relationships/image" Target="/ppt/media/image.png" Id="R781a3e249f4e42a3" /><Relationship Type="http://schemas.openxmlformats.org/officeDocument/2006/relationships/notesSlide" Target="/ppt/notesSlides/notesSlide2.xml" Id="R45c8f9b57d2c4e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1c30d92af445d" /><Relationship Type="http://schemas.openxmlformats.org/officeDocument/2006/relationships/hyperlink" Target="https://trello.com/b/swp5d7fb/p11-partie-1" TargetMode="External" Id="R5006c4f8b06b4579" /><Relationship Type="http://schemas.openxmlformats.org/officeDocument/2006/relationships/notesSlide" Target="/ppt/notesSlides/notesSlide3.xml" Id="R5b4e7339283447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6c02ee774418d" /><Relationship Type="http://schemas.openxmlformats.org/officeDocument/2006/relationships/notesSlide" Target="/ppt/notesSlides/notesSlide4.xml" Id="R0a80c8d7203b48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22e23c0bf4f17" /><Relationship Type="http://schemas.openxmlformats.org/officeDocument/2006/relationships/notesSlide" Target="/ppt/notesSlides/notesSlide5.xml" Id="Re5689136f4a848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2dedc757041da" /><Relationship Type="http://schemas.openxmlformats.org/officeDocument/2006/relationships/image" Target="/ppt/media/image2.png" Id="Rabb148fd98b44b09" /><Relationship Type="http://schemas.openxmlformats.org/officeDocument/2006/relationships/notesSlide" Target="/ppt/notesSlides/notesSlide6.xml" Id="Rf19dea2cb53248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abaa5a7ff44a8" /><Relationship Type="http://schemas.openxmlformats.org/officeDocument/2006/relationships/notesSlide" Target="/ppt/notesSlides/notesSlide7.xml" Id="R298b67ab498c41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8f48b9cbb4789" /><Relationship Type="http://schemas.openxmlformats.org/officeDocument/2006/relationships/chart" Target="/ppt/slides/charts/chart1.xml" Id="Red4bab3a8e6442ab" /><Relationship Type="http://schemas.openxmlformats.org/officeDocument/2006/relationships/notesSlide" Target="/ppt/notesSlides/notesSlide8.xml" Id="R2f173b3bfc5d4d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085b66594486a" /><Relationship Type="http://schemas.openxmlformats.org/officeDocument/2006/relationships/image" Target="/ppt/media/image3.png" Id="R28ac225983e34064" /><Relationship Type="http://schemas.openxmlformats.org/officeDocument/2006/relationships/notesSlide" Target="/ppt/notesSlides/notesSlide9.xml" Id="R82dd14da47154b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5926637e84ae7" /><Relationship Type="http://schemas.openxmlformats.org/officeDocument/2006/relationships/chart" Target="/ppt/slides/charts/chart2.xml" Id="R3e4de3eed72e4a84" /><Relationship Type="http://schemas.openxmlformats.org/officeDocument/2006/relationships/notesSlide" Target="/ppt/notesSlides/notesSlide10.xml" Id="Rbb8eb701bfd741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fc2b8e6724807" /><Relationship Type="http://schemas.openxmlformats.org/officeDocument/2006/relationships/notesSlide" Target="/ppt/notesSlides/notesSlide11.xml" Id="R7a74665dc1f442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3765b7c5148a4" /><Relationship Type="http://schemas.openxmlformats.org/officeDocument/2006/relationships/notesSlide" Target="/ppt/notesSlides/notesSlide12.xml" Id="Ra8d7e8cd6e614a9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CA TTC (k€)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product</c:v>
              </c:pt>
              <c:pt idx="1">
                <c:v>attachment</c:v>
              </c:pt>
              <c:pt idx="2">
                <c:v>toutes lignes</c:v>
              </c:pt>
            </c:strLit>
          </c:cat>
          <c:val>
            <c:numLit>
              <c:formatCode>General</c:formatCode>
              <c:ptCount val="3"/>
              <c:pt idx="0">
                <c:v>143.68</c:v>
              </c:pt>
              <c:pt idx="1">
                <c:v>153.75</c:v>
              </c:pt>
              <c:pt idx="2">
                <c:v>297.43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DE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Détectés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2"/>
              <c:pt idx="0">
                <c:v>pandas natif</c:v>
              </c:pt>
              <c:pt idx="1">
                <c:v>Pandera</c:v>
              </c:pt>
            </c:strLit>
          </c:cat>
          <c:val>
            <c:numLit>
              <c:formatCode>General</c:formatCode>
              <c:ptCount val="2"/>
              <c:pt idx="0">
                <c:v>9</c:v>
              </c:pt>
              <c:pt idx="1">
                <c:v>9</c:v>
              </c:pt>
            </c:numLit>
          </c:val>
        </c:ser>
        <c:ser>
          <c:idx val="1"/>
          <c:order val="1"/>
          <c:tx>
            <c:v>Localisés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pandas natif</c:v>
              </c:pt>
              <c:pt idx="1">
                <c:v>Pandera</c:v>
              </c:pt>
            </c:strLit>
          </c:cat>
          <c:val>
            <c:numLit>
              <c:formatCode>General</c:formatCode>
              <c:ptCount val="2"/>
              <c:pt idx="0">
                <c:v>9</c:v>
              </c:pt>
              <c:pt idx="1">
                <c:v>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DE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63214-0D28-4DD4-B0E2-F3ED73DE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P11 · PARTIE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DCF0E-FE11-449F-886D-7DCF16B7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723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Du notebook fragile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5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 projet reproductible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4C108-5D17-4765-BB85-BA0A50BF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8140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Audit, reconstruction, expériences comparatives et validation du projet BottleNeck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57882-E78B-465D-B061-BE686165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95350"/>
            <a:ext cx="3143250" cy="4476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069DA-562F-4AA1-9653-0FEF2933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00200"/>
            <a:ext cx="2095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4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295F1-5979-41BE-87ED-EBB5B936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622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cartes Trello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terminées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4557F-5C2F-4BB3-B741-C09FDCBD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576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Une partie 1 expliquée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en 12 slides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935AE-8F48-4CDD-B9DF-B22B161B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25 août 2026</a:t>
            </a:r>
          </a:p>
        </p:txBody>
      </p:sp>
    </p:spTree>
    <p:extLst>
      <p:ext uri="{BB962C8B-B14F-4D97-AF65-F5344CB8AC3E}">
        <p14:creationId xmlns:p14="http://schemas.microsoft.com/office/powerpoint/2010/main" val="18466418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C9606-1219-4AF5-AC3F-E811BE6D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P11 · BOTTLENECK · PARTIE 1 ·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69EEF-EEC8-4E1A-8F98-F00DDD9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0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Le point de départ empêchait une reproduction fiable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C5713-7D58-4B5B-B470-EE0DF369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BottleNeck rapproche trois sources pour analyser ventes, marges et stocks.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5EF0D-E3DD-487D-8E6A-9AE4D841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a3e249f4e42a3"/>
          <a:stretch xmlns:a="http://schemas.openxmlformats.org/drawingml/2006/main"/>
        </p:blipFill>
        <p:spPr>
          <a:xfrm xmlns:a="http://schemas.openxmlformats.org/drawingml/2006/main">
            <a:off x="419100" y="2502496"/>
            <a:ext cx="6762750" cy="352940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0EB8A-7A90-4CE9-9D8E-61604A39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336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9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Périmètre à ne pas dépasser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D55CD-EA3E-4646-BE96-1315C3A8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05150"/>
            <a:ext cx="37147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8"/>
              </a:spcAft>
              <a:buChar char="•"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Ventes : octobre uniquement</a:t>
            </a:r>
          </a:p>
          <a:p xmlns:a="http://schemas.openxmlformats.org/drawingml/2006/main">
            <a:pPr marL="22" indent="-12" algn="l">
              <a:spcAft>
                <a:spcPts val="8"/>
              </a:spcAft>
              <a:buChar char="•"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Stock : état au 31 octobre</a:t>
            </a:r>
          </a:p>
          <a:p xmlns:a="http://schemas.openxmlformats.org/drawingml/2006/main">
            <a:pPr marL="22" indent="-12" algn="l">
              <a:spcAft>
                <a:spcPts val="8"/>
              </a:spcAft>
              <a:buChar char="•"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Année et horodatage non certifiés</a:t>
            </a:r>
          </a:p>
          <a:p xmlns:a="http://schemas.openxmlformats.org/drawingml/2006/main">
            <a:pPr marL="22" indent="-12" algn="l">
              <a:spcAft>
                <a:spcPts val="8"/>
              </a:spcAft>
              <a:buChar char="•"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TVA 20 % : hypothèse à confirmer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09C64-57C1-4CE5-B61D-1F17F212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543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Le notebook initial dépendait de Colab, de chemins absolus et de transformations silencieuses.</a:t>
            </a:r>
          </a:p>
        </p:txBody>
      </p:sp>
    </p:spTree>
    <p:extLst>
      <p:ext uri="{BB962C8B-B14F-4D97-AF65-F5344CB8AC3E}">
        <p14:creationId xmlns:p14="http://schemas.microsoft.com/office/powerpoint/2010/main" val="2515840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C212B8-5281-4593-B421-2CCA463D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P11 · BOTTLENECK · PARTIE 1 ·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FF04B-76C4-41F2-BE01-797893B1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Le Trello rend la partie 1 vérifiable de bout en bout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B69B4-7A35-4DD3-A3BB-CC0A4A79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Le tableau « P11 — Partie 1 » contient quatre listes et douze cartes E01 à E12.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0F435-1659-4DD0-B8EA-65C28A54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CD843-9B89-4EF3-A34A-F4C9FD11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Backlog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0A0A9-4B1F-4864-B882-8D56F3F6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00400"/>
            <a:ext cx="2381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8ACA7-83D2-47A9-8BD6-15C2E092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050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43586-ABE4-4878-AE0C-8AAEFEF0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carte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4A373-6E59-4AAF-ABF2-89C8031A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Todo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3DD6C-5157-415D-A4C9-2F4E6E92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00400"/>
            <a:ext cx="2381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7301A-48C7-41AB-A0F7-511156FD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861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050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C3D53-93AA-4BDF-88DD-EBB0277E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48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carte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97573F-3FA0-4543-B3D0-B83D2CC8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670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C91564-1DF5-416B-AE15-9A197135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00400"/>
            <a:ext cx="2381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FF6B5D-A0A9-49AA-B4A8-24D9D23A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861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050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73F2CE-536A-4FA5-9D01-B61A9AF3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48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carte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64683A-598E-463D-B927-D0F5FB37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670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58ECD-E1E6-4879-9CE5-2E99CE14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00400"/>
            <a:ext cx="2381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F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EF47F4-6987-4C70-A04E-10C1BFA2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861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050" b="1">
                <a:solidFill>
                  <a:srgbClr val="0B8F7A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B8F7A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554ED4-6E84-4F5E-B5C7-BE67B69F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48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cartes terminées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7DAA30-CF12-40C9-9BDE-34821C1A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448300"/>
            <a:ext cx="727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5006c4f8b06b4579"/>
              </a:rPr>
              <a:t>Ouvrir le tableau Trello P11 — Partie 1</a:t>
            </a:r>
          </a:p>
        </p:txBody>
      </p:sp>
    </p:spTree>
    <p:extLst>
      <p:ext uri="{BB962C8B-B14F-4D97-AF65-F5344CB8AC3E}">
        <p14:creationId xmlns:p14="http://schemas.microsoft.com/office/powerpoint/2010/main" val="17627768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AA007B-233E-42C5-9757-7BD1A2AC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P11 · BOTTLENECK · PARTIE 1 ·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C3F9D-24B3-4EC3-A9B8-154E8732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E01 à E04 ont d’abord établi des faits contrôlables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002C2-75BA-447C-82DD-D086807E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Avant toute amélioration, la source a été préservée et la baseline reproduite.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17DEB-C9DB-4553-8ADE-F76DC8BE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0187B-EF74-44C3-9229-7C8BC70F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24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0818A-8CDB-4E72-91A7-50C84B49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242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Préserver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A6014-33A6-4EDE-AFE5-BED8BAC1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338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8 fichiers archivés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avec SHA-256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2D089-7E59-424C-B4F9-46E7E9C5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44DB73-1041-4917-9B18-402A2D40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242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Exécuter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5DB13-95A5-4EE4-8088-13D79AEF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338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Échec strict en 5,02 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sur google.colab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C8A74-A2DE-46CC-95E0-D45B0324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24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4283A-C3FE-45B2-A598-D9B5AF55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Diagnostiquer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87452-22C2-4F4C-AFEC-E2CBF6CE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338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Chemins, dépendances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et cellules incohérentes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3E8416-EED6-4727-9D4C-EA4A5074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24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DAB6A5-EBD6-41F7-9AAD-B87372E6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242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Auditer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A33F9-5F52-472E-B87E-E946EC51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338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Jointures, CA, marges,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stock et conclusions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ED0F7D-1EC1-4557-9A11-06FA00A5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86350"/>
            <a:ext cx="109728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6B6BB2-EF79-42F9-82DC-8DDE4AEB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Conclusion de l’audit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5D0306-95C8-4FF0-84EA-2580BF51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57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 résultat pouvait paraître exploitable, mais il n’était ni reproductible ni suffisamment traçable.</a:t>
            </a:r>
          </a:p>
        </p:txBody>
      </p:sp>
    </p:spTree>
    <p:extLst>
      <p:ext uri="{BB962C8B-B14F-4D97-AF65-F5344CB8AC3E}">
        <p14:creationId xmlns:p14="http://schemas.microsoft.com/office/powerpoint/2010/main" val="13264210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01CE55-43B5-436B-9573-D4491E91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P11 · BOTTLENECK · PARTIE 1 ·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460B5-824C-4A59-AB4F-EE26A481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E05 rend le projet local, testable et transmissible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19287-2983-4A73-BF3C-61F8902B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La logique métier sort du notebook et devient un pipeline partagé par tous les livrables.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474E9-C91B-435D-A5B6-1B90416A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876300" y="3505200"/>
            <a:ext cx="5715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B09E5-87A6-463C-9250-08A0223A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3813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708E9-76F7-4478-BF04-CF5C8C3D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290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EEB20-93E7-4832-BB4B-2F6581A1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210050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ERP · Web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liaison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D16E74-A4B8-4ECC-B14B-7F72BB36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3813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38867-6752-4FC5-9F7E-8D78765C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290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Pipeline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FF134-54DC-46F3-916F-29D61B1A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10050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contrats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et jointures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0BCF2-0075-4E80-A516-440D1E12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3813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24CD0B-4386-4EAF-A4A2-90B4FD12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290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Données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ED19B7-18BD-437A-A64B-7E6CB4B1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210050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catalogues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contrôlés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A2531D-055D-420F-9A7B-BCC5A44A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3813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275A71-1787-47D8-9A88-4E219826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290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6E8370-BBAB-4FD0-BF68-98CF2E18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10050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analyse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exécutée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26A716-61B0-4D77-B8C7-7DEFA9A1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3813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AA1DC9-23C9-4047-8F6D-BE71F7CB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290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Rapports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F94CC7-A62A-4A4E-964F-54A4E91B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210050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preuves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et décisions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4C8B34-680C-46F7-AD26-BB3675BC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37909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8"/>
              </a:spcAft>
              <a:buChar char="•"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Package sous src/bottleneck_analysis/</a:t>
            </a:r>
          </a:p>
          <a:p xmlns:a="http://schemas.openxmlformats.org/drawingml/2006/main">
            <a:pPr marL="22" indent="-12" algn="l">
              <a:spcAft>
                <a:spcPts val="8"/>
              </a:spcAft>
              <a:buChar char="•"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Scripts d’analyse et de génération</a:t>
            </a:r>
          </a:p>
          <a:p xmlns:a="http://schemas.openxmlformats.org/drawingml/2006/main">
            <a:pPr marL="22" indent="-12" algn="l">
              <a:spcAft>
                <a:spcPts val="8"/>
              </a:spcAft>
              <a:buChar char="•"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Notebook portfolio généré</a:t>
            </a:r>
          </a:p>
          <a:p xmlns:a="http://schemas.openxmlformats.org/drawingml/2006/main">
            <a:pPr marL="22" indent="-12" algn="l">
              <a:spcAft>
                <a:spcPts val="8"/>
              </a:spcAft>
              <a:buChar char="•"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Tests unitaires et d’intégration</a:t>
            </a:r>
          </a:p>
          <a:p xmlns:a="http://schemas.openxmlformats.org/drawingml/2006/main">
            <a:pPr marL="22" indent="-12" algn="l">
              <a:spcAft>
                <a:spcPts val="8"/>
              </a:spcAft>
              <a:buChar char="•"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Exports CSV, JSON, PNG et SVG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811204-BA44-4C2E-A72D-B32B05AC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86400"/>
            <a:ext cx="3790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Une seule logique métier alimente le notebook, les rapports et la présentation.</a:t>
            </a:r>
          </a:p>
        </p:txBody>
      </p:sp>
    </p:spTree>
    <p:extLst>
      <p:ext uri="{BB962C8B-B14F-4D97-AF65-F5344CB8AC3E}">
        <p14:creationId xmlns:p14="http://schemas.microsoft.com/office/powerpoint/2010/main" val="5456460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148fd98b44b09"/>
          <a:stretch xmlns:a="http://schemas.openxmlformats.org/drawingml/2006/main"/>
        </p:blipFill>
        <p:spPr>
          <a:xfrm xmlns:a="http://schemas.openxmlformats.org/drawingml/2006/main">
            <a:off x="443626" y="2400300"/>
            <a:ext cx="6446999" cy="36004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137DC-457A-4792-8CE8-55E193CE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37338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B5126-3273-4A74-924E-E88D8079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6225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EB6F2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B6F2D"/>
                </a:solidFill>
                <a:latin typeface="Arial"/>
                <a:ea typeface="Arial"/>
                <a:cs typeface="Arial"/>
              </a:rPr>
              <a:t>165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BD918-66D2-4386-B912-9686A58A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7665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constats qualité tracés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87E18-4A18-4830-82F2-8402ABE9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05350"/>
            <a:ext cx="335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7 erreurs certaines · 125 anomalies probables · 33 valeurs inhabituelles mais plausibles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A83DA-4A09-4DD3-B9A5-9D714A94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P11 · BOTTLENECK · PARTIE 1 · 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C6A11-52B6-4F86-87FF-1326EB3D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E06 rend les défauts visibles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3384F-201A-4CAC-B350-179D038C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Une donnée douteuse reste visible et n’est exclue que de l’indicateur invalide.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8A4E1-64F1-4919-95EF-E97D6DD9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59625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194FF6-4BF1-44D8-8DAB-DCC3807D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P11 · BOTTLENECK · PARTIE 1 ·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9792A-D163-4BB3-B8EF-642D05B9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E07–E08 remplacent l’arbitraire par l’expérience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C261F-72D0-4BF3-BC5D-78E6A83B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Les critères sont définis avant l’exécution, puis toutes les options sont comparées sur les mêmes données.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4B60B-BB87-4765-87BF-CA882564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FD573-68ED-4557-9035-F6D627C2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24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BE7088-4469-478C-8A85-B67278E8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813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9E71E-EDD6-46D4-B758-469AE9DC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290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Quel choix influence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le résultat 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41AAA-D8F3-47EB-8C0F-28D16AB0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7428B-043E-4683-A354-F85A74A6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813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Critères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98369-831F-484D-B134-2A8D7A59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290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Sens métier, fiabilité,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complexité, stabilité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70B88-31BE-454C-8B54-4293E219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24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B2983F-61CF-4569-906C-1A1187C1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813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Exécution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D6913C-CC75-4331-9FD3-967F7210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290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Même jeu de données,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mêmes métriques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DF60D-BBA5-46D4-B28C-45AF0CA4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24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CE7D25-FB1C-4CAB-B3BF-304790F1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813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Décision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9E62B9-21ED-4A9E-85D4-776AA581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290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Option retenue, preuve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et limites publiées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B615C1-CAB2-4F4C-8A0E-EADE3229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19700"/>
            <a:ext cx="109728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469476-E69C-45F6-BCEA-3A2583E8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1045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Trois expériences persistantes : sélection Web · méthodes d’outliers · pandas contre Pandera</a:t>
            </a:r>
          </a:p>
        </p:txBody>
      </p:sp>
    </p:spTree>
    <p:extLst>
      <p:ext uri="{BB962C8B-B14F-4D97-AF65-F5344CB8AC3E}">
        <p14:creationId xmlns:p14="http://schemas.microsoft.com/office/powerpoint/2010/main" val="2103947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457200" y="2514600"/>
          <a:ext xmlns:a="http://schemas.openxmlformats.org/drawingml/2006/main" cx="6953250" cy="3257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4bab3a8e6442ab"/>
          </a:graphicData>
        </a:graphic>
      </p:graphicFrame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022BC-47BA-4E10-BD48-1E6AE7DD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Décision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4DA6D-6772-4738-A764-520F117B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194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3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0B8F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8F7A"/>
                </a:solidFill>
                <a:latin typeface="Arial"/>
                <a:ea typeface="Arial"/>
                <a:cs typeface="Arial"/>
              </a:rPr>
              <a:t>Conserver post_type =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EB413-91C2-447B-8840-35864056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719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Pourquoi 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897DC-8906-4CDA-AD40-05129918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91050"/>
            <a:ext cx="3143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8"/>
              </a:spcAft>
              <a:buChar char="•"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Une ligne par SKU</a:t>
            </a:r>
          </a:p>
          <a:p xmlns:a="http://schemas.openxmlformats.org/drawingml/2006/main">
            <a:pPr marL="22" indent="-12" algn="l">
              <a:spcAft>
                <a:spcPts val="8"/>
              </a:spcAft>
              <a:buChar char="•"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Invariant à l’ordre</a:t>
            </a:r>
          </a:p>
          <a:p xmlns:a="http://schemas.openxmlformats.org/drawingml/2006/main">
            <a:pPr marL="22" indent="-12" algn="l">
              <a:spcAft>
                <a:spcPts val="8"/>
              </a:spcAft>
              <a:buChar char="•"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Pas de pièce jointe comptée comme vente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635AD-B7FE-4145-98BC-070486ED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P11 · BOTTLENECK · PARTIE 1 ·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5D1F3-D23A-4AF8-8076-C677F802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Le filtre Web évite 107 % de double comptage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C21D3-FE36-43E2-9BD0-18F39AF0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Le type product est retenu ; toutes les lignes gonflent le CA de 107,01 %.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FA3BB-68D2-4A94-9565-4BC7510C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498674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C648E8-9F0D-493D-85FA-328F8603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P11 · BOTTLENECK · PARTIE 1 ·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C14DE-1492-4F9C-AE4E-156C1A1C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 MAD brute est le meilleur signal testé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B051D-190E-4683-81EC-5808A39D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Elle atteint 100 % de rappel injecté avec une stabilité Jaccard de 0,9091.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484FA-963E-4670-ACFD-4E2E653E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c225983e34064"/>
          <a:stretch xmlns:a="http://schemas.openxmlformats.org/drawingml/2006/main"/>
        </p:blipFill>
        <p:spPr>
          <a:xfrm xmlns:a="http://schemas.openxmlformats.org/drawingml/2006/main">
            <a:off x="842523" y="2381250"/>
            <a:ext cx="6392154" cy="36385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66768-6E67-4905-A758-84A7AD04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0"/>
            <a:ext cx="31432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533F3-99C9-4BBE-998F-26523CC9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62250"/>
            <a:ext cx="2647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EB6F2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B6F2D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FD769-8A5D-4B16-A0FF-F87E6291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76650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alertes · 4,62 %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309311-B611-484B-ACAF-EBC1525D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625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>
                <a:solidFill>
                  <a:srgbClr val="0B8F7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8F7A"/>
                </a:solidFill>
                <a:latin typeface="Arial"/>
                <a:ea typeface="Arial"/>
                <a:cs typeface="Arial"/>
              </a:rPr>
              <a:t>100 %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20448F-93D6-4F8F-97DC-9B62A87E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3721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rappel sur 20 cas injectés</a:t>
            </a:r>
          </a:p>
        </p:txBody>
      </p:sp>
    </p:spTree>
    <p:extLst>
      <p:ext uri="{BB962C8B-B14F-4D97-AF65-F5344CB8AC3E}">
        <p14:creationId xmlns:p14="http://schemas.microsoft.com/office/powerpoint/2010/main" val="19253862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14350" y="2533650"/>
          <a:ext xmlns:a="http://schemas.openxmlformats.org/drawingml/2006/main" cx="657225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4de3eed72e4a84"/>
          </a:graphicData>
        </a:graphic>
      </p:graphicFrame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8D1D6-CB46-4408-87A9-A6EBBCE8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Choix courant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897DF-2AA7-4595-A7F2-41BB3038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7660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0B8F7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8F7A"/>
                </a:solidFill>
                <a:latin typeface="Arial"/>
                <a:ea typeface="Arial"/>
                <a:cs typeface="Arial"/>
              </a:rPr>
              <a:t>pandas natif au runtime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3E228-8C75-48CE-893B-A2375CB2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86250"/>
            <a:ext cx="342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Pandera reste une option de développement. Les temps de benchmark sont indicatifs et dépendants de la machine.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A6477-41AA-4923-A8DD-84A1ED7D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P11 · BOTTLENECK · PARTIE 1 ·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2DAD1-2156-4074-8C83-36A72A49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pandas est le meilleur compromis pour ce pipeline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F7C1B-D4FD-46F6-B073-BA7BC53E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Les deux validateurs détectent 9/9 défauts ; pandas localise 9/9 contre 7/9 pour Pandera.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C70C14-44A0-4A5F-A85D-6E0195D8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024757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9A9D26-CF16-464F-837B-E5C48741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P11 · BOTTLENECK · PARTIE 1 ·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5A0A6-52D5-479B-B0E6-D55A5D1E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E09 à E12 verrouillent la qualité jusqu’à la livraison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1F8D4-300C-4261-AE66-9BF37CA3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Une amélioration n’est « réalisée » que si elle est intégrée, exécutée, vérifiée et documentée.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A1AF7-84BA-482B-8F50-A414DFD4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F495F-508D-4653-90B2-F23A1C75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CBD91-79C1-43A8-B866-E148672F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Vérifier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1F05F-24AE-4164-8A51-EAC2FDF3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003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Test ou preuve persistante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63376-0242-4C63-8C41-423B450A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6710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D5040-01EA-4EDF-837F-A44032A0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9090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Revenir en arrière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3F73B-E54A-40F1-A515-D5179821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194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Corriger un choix invalidé par les mesures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0507B-6E03-4E89-B73F-32499466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05933-EA72-442D-80B3-E9CCE39D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100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Rester sobre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4A831-80C6-4001-92D6-6829F673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38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Écarter ML et dépendances sans gain démontré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90304-9CA4-44EE-B4A1-80D5938F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A68D06-555E-46E7-9D6A-FE7435C2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2920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Tracer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729C4D-2CB5-404F-B8EF-D5105594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577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Consigner problème, décision, résultat et limite</a:t>
            </a:r>
          </a:p>
        </p:txBody>
      </p:sp>
    </p:spTree>
    <p:extLst>
      <p:ext uri="{BB962C8B-B14F-4D97-AF65-F5344CB8AC3E}">
        <p14:creationId xmlns:p14="http://schemas.microsoft.com/office/powerpoint/2010/main" val="20407531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BCD48-3B7E-4B28-AEF8-9E1304CF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28900"/>
            <a:ext cx="33718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E5BBB-7378-4441-9849-3745456C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2876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714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801D0-F7FF-4B73-8928-E53BBCED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produits Web rapprochés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F9064-CFCE-487C-B6AE-641EDB2C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28900"/>
            <a:ext cx="33718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B92BA-4A61-437D-A2FE-09DEE32E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14650"/>
            <a:ext cx="2876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B8F7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8F7A"/>
                </a:solidFill>
                <a:latin typeface="Arial"/>
                <a:ea typeface="Arial"/>
                <a:cs typeface="Arial"/>
              </a:rPr>
              <a:t>143 680 €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ABE20-5A32-4E92-A4EC-C46904F0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29050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CA TTC d’octobre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F38BC-CF81-4804-B5FF-BFF25AB5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28900"/>
            <a:ext cx="33718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88445-C010-41A3-94D0-C4F37CA3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14650"/>
            <a:ext cx="2876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EB6F2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B6F2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5E247-A622-4279-8837-A1E3EB48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29050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tests pytest réussis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678A4-3975-4DC3-9424-3373E16A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5/5 commandes · 7/7 contrôles · notebook 24 cellules sans erreur · 11 figures en PNG et SVG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398CB8-82D6-4081-ABDA-3A21EC41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721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Limites : octobre uniquement · stock au 31 octobre · année non certifiée · hypothèses TVA et unités financières à confirmer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86DCA9-65D4-40B3-8C76-BF62BB37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 partie 1 est livrée, testée et reproductible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FFD177-F790-4395-9027-0C77F77C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Un mois d’observation ne devient pas une prévision annuelle.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8D120-4B7A-4528-B3AF-D4657253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07838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2026-08-25T12:15:49.8570000Z</dcterms:created>
  <dcterms:modified xsi:type="dcterms:W3CDTF">2026-08-25T12:15:49.8580000Z</dcterms:modified>
</coreProperties>
</file>