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embeddedFontLst>
    <p:embeddedFont>
      <p:font typeface="Montserrat" panose="00000500000000000000" pitchFamily="50" charset="0"/>
      <p:regular r:id="rId15"/>
      <p:bold r:id="rId16"/>
      <p:italic r:id="rId17"/>
      <p:boldItalic r:id="rId18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80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reports/tables/indicateurs_cles.json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docs/limites_biais.md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reports/tables/indicateurs_cles.json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reports/tables/registre_qualite.csv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docs/synthese_codir.md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reports/tables/audit_jointures.csv</a:t>
            </a:r>
          </a:p>
          <a:p>
            <a:r>
              <a:t>- reports/figures/01_rapprochement_sources.png</a:t>
            </a:r>
          </a:p>
          <a:p>
            <a:r>
              <a:t>- docs/limites_biais.md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reports/tables/indicateurs_cles.json</a:t>
            </a:r>
          </a:p>
          <a:p>
            <a:r>
              <a:t>- docs/limites_biais.md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reports/tables/indicateurs_cles.json</a:t>
            </a:r>
          </a:p>
          <a:p>
            <a:r>
              <a:t>- reports/tables/top20_ca_octobre.csv</a:t>
            </a:r>
          </a:p>
          <a:p>
            <a:r>
              <a:t>- reports/figures/02_top10_ca_octobre.png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reports/tables/indicateurs_cles.json</a:t>
            </a:r>
          </a:p>
          <a:p>
            <a:r>
              <a:t>- reports/figures/03_pareto_ca_octobre.png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reports/tables/comparaison_methodes_outliers.csv</a:t>
            </a:r>
          </a:p>
          <a:p>
            <a:r>
              <a:t>- reports/tables/registre_qualite.csv</a:t>
            </a:r>
          </a:p>
          <a:p>
            <a:r>
              <a:t>- https://www.itl.nist.gov/div898/handbook/eda/section3/eda35h.htm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reports/tables/indicateurs_cles.json</a:t>
            </a:r>
          </a:p>
          <a:p>
            <a:r>
              <a:t>- reports/tables/priorites_stock.csv</a:t>
            </a:r>
          </a:p>
          <a:p>
            <a:r>
              <a:t>- reports/figures/05_segments_stock.png</a:t>
            </a:r>
          </a:p>
          <a:p>
            <a:r>
              <a:t>- docs/limites_biais.md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reports/tables/priorites_stock.csv</a:t>
            </a:r>
          </a:p>
          <a:p>
            <a:r>
              <a:t>- reports/figures/09_stock_sans_vente_octobre.png</a:t>
            </a:r>
          </a:p>
          <a:p>
            <a:r>
              <a:t>- docs/limites_biais.md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reports/tables/indicateurs_cles.json</a:t>
            </a:r>
          </a:p>
          <a:p>
            <a:r>
              <a:t>- reports/tables/registre_qualite.csv</a:t>
            </a:r>
          </a:p>
          <a:p>
            <a:r>
              <a:t>- reports/figures/06_marge_ponderee_type.png</a:t>
            </a:r>
          </a:p>
          <a:p>
            <a:r>
              <a:t>- docs/limites_biais.md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reports/tables/indicateurs_cles.json</a:t>
            </a:r>
          </a:p>
          <a:p>
            <a:r>
              <a:t>- reports/figures/11_prix_vs_ventes_octobre.png</a:t>
            </a:r>
          </a:p>
          <a:p>
            <a:r>
              <a:t>- docs/limites_biais.md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docs/synthese_codir.md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docs/backlog_planning_risques.md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reports/tables/registre_qualite.csv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>
            <a:extLst>
              <a:ext uri="{FF2B5EF4-FFF2-40B4-BE49-F238E27FC236}">
                <a16:creationId xmlns:a16="http://schemas.microsoft.com/office/drawing/2014/main" id="{2525F0DA-FDB8-4967-AAD1-C03E1BE0FE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0">
            <a:extLst>
              <a:ext uri="{FF2B5EF4-FFF2-40B4-BE49-F238E27FC236}">
                <a16:creationId xmlns:a16="http://schemas.microsoft.com/office/drawing/2014/main" id="{F6791C34-B520-4432-AF9C-D55FAAB4B1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0">
            <a:extLst>
              <a:ext uri="{FF2B5EF4-FFF2-40B4-BE49-F238E27FC236}">
                <a16:creationId xmlns:a16="http://schemas.microsoft.com/office/drawing/2014/main" id="{9D10DD95-F16A-4A77-8B0A-57AE045D0E7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1">
            <a:extLst>
              <a:ext uri="{FF2B5EF4-FFF2-40B4-BE49-F238E27FC236}">
                <a16:creationId xmlns:a16="http://schemas.microsoft.com/office/drawing/2014/main" id="{353981F4-FC85-4BFF-AEE3-74708186C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1">
            <a:extLst>
              <a:ext uri="{FF2B5EF4-FFF2-40B4-BE49-F238E27FC236}">
                <a16:creationId xmlns:a16="http://schemas.microsoft.com/office/drawing/2014/main" id="{A23D9DBF-AAF2-49FE-BE80-9FC5565960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1">
            <a:extLst>
              <a:ext uri="{FF2B5EF4-FFF2-40B4-BE49-F238E27FC236}">
                <a16:creationId xmlns:a16="http://schemas.microsoft.com/office/drawing/2014/main" id="{C54FBF37-328A-4E56-AFF0-EBDFAF1FF67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>
            <a:extLst>
              <a:ext uri="{FF2B5EF4-FFF2-40B4-BE49-F238E27FC236}">
                <a16:creationId xmlns:a16="http://schemas.microsoft.com/office/drawing/2014/main" id="{9394D7E7-22D6-4FBE-883E-26C2B3465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2">
            <a:extLst>
              <a:ext uri="{FF2B5EF4-FFF2-40B4-BE49-F238E27FC236}">
                <a16:creationId xmlns:a16="http://schemas.microsoft.com/office/drawing/2014/main" id="{5AA39D46-8B9C-4DC8-866A-F24D176F96B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3">
            <a:extLst>
              <a:ext uri="{FF2B5EF4-FFF2-40B4-BE49-F238E27FC236}">
                <a16:creationId xmlns:a16="http://schemas.microsoft.com/office/drawing/2014/main" id="{9F160331-1D4C-4BE1-8282-0514AC5B6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3">
            <a:extLst>
              <a:ext uri="{FF2B5EF4-FFF2-40B4-BE49-F238E27FC236}">
                <a16:creationId xmlns:a16="http://schemas.microsoft.com/office/drawing/2014/main" id="{27B96E0D-434C-4F4A-9AD1-28903D44BE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3">
            <a:extLst>
              <a:ext uri="{FF2B5EF4-FFF2-40B4-BE49-F238E27FC236}">
                <a16:creationId xmlns:a16="http://schemas.microsoft.com/office/drawing/2014/main" id="{8F575496-953A-4EA4-BCC0-4F9E627C0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3">
            <a:extLst>
              <a:ext uri="{FF2B5EF4-FFF2-40B4-BE49-F238E27FC236}">
                <a16:creationId xmlns:a16="http://schemas.microsoft.com/office/drawing/2014/main" id="{7DE46B7F-B3BE-463D-8DBF-024DB544B5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4">
            <a:extLst>
              <a:ext uri="{FF2B5EF4-FFF2-40B4-BE49-F238E27FC236}">
                <a16:creationId xmlns:a16="http://schemas.microsoft.com/office/drawing/2014/main" id="{C27B3BE8-5E08-4860-AB87-6ABC367EC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4">
            <a:extLst>
              <a:ext uri="{FF2B5EF4-FFF2-40B4-BE49-F238E27FC236}">
                <a16:creationId xmlns:a16="http://schemas.microsoft.com/office/drawing/2014/main" id="{CE6D016B-6B02-44A7-80F4-92989AD927A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5">
            <a:extLst>
              <a:ext uri="{FF2B5EF4-FFF2-40B4-BE49-F238E27FC236}">
                <a16:creationId xmlns:a16="http://schemas.microsoft.com/office/drawing/2014/main" id="{64A4B75D-9A72-4427-B97D-F4E6FE72A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5">
            <a:extLst>
              <a:ext uri="{FF2B5EF4-FFF2-40B4-BE49-F238E27FC236}">
                <a16:creationId xmlns:a16="http://schemas.microsoft.com/office/drawing/2014/main" id="{597605C6-66D0-435E-AEC6-14B9CB8428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5">
            <a:extLst>
              <a:ext uri="{FF2B5EF4-FFF2-40B4-BE49-F238E27FC236}">
                <a16:creationId xmlns:a16="http://schemas.microsoft.com/office/drawing/2014/main" id="{4B9C2FF3-5993-4AE5-9540-CA52252620D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6">
            <a:extLst>
              <a:ext uri="{FF2B5EF4-FFF2-40B4-BE49-F238E27FC236}">
                <a16:creationId xmlns:a16="http://schemas.microsoft.com/office/drawing/2014/main" id="{F851C2B4-A231-4267-86A8-366062D7B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6">
            <a:extLst>
              <a:ext uri="{FF2B5EF4-FFF2-40B4-BE49-F238E27FC236}">
                <a16:creationId xmlns:a16="http://schemas.microsoft.com/office/drawing/2014/main" id="{19C5E40F-FC11-4DFD-894B-86941C3A0F5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7">
            <a:extLst>
              <a:ext uri="{FF2B5EF4-FFF2-40B4-BE49-F238E27FC236}">
                <a16:creationId xmlns:a16="http://schemas.microsoft.com/office/drawing/2014/main" id="{F8427F1D-D40A-488E-8069-85A1657B906A}"/>
              </a:ext>
            </a:extLst>
          </p:cNvPr>
          <p:cNvSpPr>
            <a:spLocks noGrp="1"/>
          </p:cNvSpPr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Google Shape;37;p17">
            <a:extLst>
              <a:ext uri="{FF2B5EF4-FFF2-40B4-BE49-F238E27FC236}">
                <a16:creationId xmlns:a16="http://schemas.microsoft.com/office/drawing/2014/main" id="{B72AB706-BB25-443F-8549-E092F5B46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7">
            <a:extLst>
              <a:ext uri="{FF2B5EF4-FFF2-40B4-BE49-F238E27FC236}">
                <a16:creationId xmlns:a16="http://schemas.microsoft.com/office/drawing/2014/main" id="{F6220DEB-C086-4B2F-9682-C73608A87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7">
            <a:extLst>
              <a:ext uri="{FF2B5EF4-FFF2-40B4-BE49-F238E27FC236}">
                <a16:creationId xmlns:a16="http://schemas.microsoft.com/office/drawing/2014/main" id="{F055EF66-3D4E-4132-8FC9-CB37A1D81A5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45720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7">
            <a:extLst>
              <a:ext uri="{FF2B5EF4-FFF2-40B4-BE49-F238E27FC236}">
                <a16:creationId xmlns:a16="http://schemas.microsoft.com/office/drawing/2014/main" id="{0AD6DE3B-5841-4382-B527-35B059297A0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8">
            <a:extLst>
              <a:ext uri="{FF2B5EF4-FFF2-40B4-BE49-F238E27FC236}">
                <a16:creationId xmlns:a16="http://schemas.microsoft.com/office/drawing/2014/main" id="{C67B4AA0-DDB3-4A1D-854C-FF975F5806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8">
            <a:extLst>
              <a:ext uri="{FF2B5EF4-FFF2-40B4-BE49-F238E27FC236}">
                <a16:creationId xmlns:a16="http://schemas.microsoft.com/office/drawing/2014/main" id="{A0E4E66F-2569-45C5-A6CC-DA83B435610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>
            <a:extLst>
              <a:ext uri="{FF2B5EF4-FFF2-40B4-BE49-F238E27FC236}">
                <a16:creationId xmlns:a16="http://schemas.microsoft.com/office/drawing/2014/main" id="{D24D561C-84ED-4BAC-B9AD-5121ADCCC2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9">
            <a:extLst>
              <a:ext uri="{FF2B5EF4-FFF2-40B4-BE49-F238E27FC236}">
                <a16:creationId xmlns:a16="http://schemas.microsoft.com/office/drawing/2014/main" id="{80D61C70-4DD6-4FF1-BC53-0DDFE9EAF5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9">
            <a:extLst>
              <a:ext uri="{FF2B5EF4-FFF2-40B4-BE49-F238E27FC236}">
                <a16:creationId xmlns:a16="http://schemas.microsoft.com/office/drawing/2014/main" id="{77409EF9-0AC5-407C-9F41-54272F5D45D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0">
            <a:extLst>
              <a:ext uri="{FF2B5EF4-FFF2-40B4-BE49-F238E27FC236}">
                <a16:creationId xmlns:a16="http://schemas.microsoft.com/office/drawing/2014/main" id="{787ADD87-F8A3-412A-B374-F62EF45F68B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>
            <a:extLst>
              <a:ext uri="{FF2B5EF4-FFF2-40B4-BE49-F238E27FC236}">
                <a16:creationId xmlns:a16="http://schemas.microsoft.com/office/drawing/2014/main" id="{A516FE85-40E6-4988-BA0D-602BBAA34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7" name="Google Shape;7;p9">
            <a:extLst>
              <a:ext uri="{FF2B5EF4-FFF2-40B4-BE49-F238E27FC236}">
                <a16:creationId xmlns:a16="http://schemas.microsoft.com/office/drawing/2014/main" id="{1D953473-91F5-4B2B-9BCE-32C2C2FF8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marR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914400" marR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1371600" marR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1828800" marR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2286000" marR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2743200" marR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3200400" marR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3657600" marR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4114800" marR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8" name="Google Shape;8;p9">
            <a:extLst>
              <a:ext uri="{FF2B5EF4-FFF2-40B4-BE49-F238E27FC236}">
                <a16:creationId xmlns:a16="http://schemas.microsoft.com/office/drawing/2014/main" id="{1F2A89E9-F66D-4226-BBFF-CE34F9C9D1E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>
            <a:extLst>
              <a:ext uri="{FF2B5EF4-FFF2-40B4-BE49-F238E27FC236}">
                <a16:creationId xmlns:a16="http://schemas.microsoft.com/office/drawing/2014/main" id="{23A04836-16ED-4E56-91D2-D9F806E57EC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4D40"/>
          </a:solidFill>
          <a:ln w="9525" cmpd="sng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Google Shape;55;p1">
            <a:extLst>
              <a:ext uri="{FF2B5EF4-FFF2-40B4-BE49-F238E27FC236}">
                <a16:creationId xmlns:a16="http://schemas.microsoft.com/office/drawing/2014/main" id="{6C85B01F-18BB-4305-92D1-2A612FE570D3}"/>
              </a:ext>
            </a:extLst>
          </p:cNvPr>
          <p:cNvSpPr>
            <a:spLocks noGrp="1"/>
          </p:cNvSpPr>
          <p:nvPr/>
        </p:nvSpPr>
        <p:spPr>
          <a:xfrm>
            <a:off x="652150" y="1851250"/>
            <a:ext cx="7983300" cy="8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 fontScale="50947" lnSpcReduction="10000"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sz="5200" b="0" i="0" u="none" cap="none">
                <a:solidFill>
                  <a:srgbClr val="F3F3F3"/>
                </a:solidFill>
                <a:latin typeface="Montserrat"/>
                <a:ea typeface="Montserrat"/>
                <a:cs typeface="Montserrat"/>
              </a:rPr>
              <a:t>BottleNeck — décisions ventes, stocks &amp; marge</a:t>
            </a:r>
          </a:p>
        </p:txBody>
      </p:sp>
      <p:sp>
        <p:nvSpPr>
          <p:cNvPr id="56" name="Google Shape;56;p1">
            <a:extLst>
              <a:ext uri="{FF2B5EF4-FFF2-40B4-BE49-F238E27FC236}">
                <a16:creationId xmlns:a16="http://schemas.microsoft.com/office/drawing/2014/main" id="{15E400E4-32AA-40DC-8107-E46D8CD4745A}"/>
              </a:ext>
            </a:extLst>
          </p:cNvPr>
          <p:cNvSpPr>
            <a:spLocks noGrp="1"/>
          </p:cNvSpPr>
          <p:nvPr/>
        </p:nvSpPr>
        <p:spPr>
          <a:xfrm>
            <a:off x="4968964" y="3582148"/>
            <a:ext cx="3807680" cy="53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/>
          <a:p>
            <a:r>
              <a:rPr>
                <a:solidFill>
                  <a:schemeClr val="bg1"/>
                </a:solidFill>
              </a:rPr>
              <a:t>Kevin Henkes</a:t>
            </a:r>
          </a:p>
        </p:txBody>
      </p:sp>
      <p:sp>
        <p:nvSpPr>
          <p:cNvPr id="57" name="Google Shape;57;p1">
            <a:extLst>
              <a:ext uri="{FF2B5EF4-FFF2-40B4-BE49-F238E27FC236}">
                <a16:creationId xmlns:a16="http://schemas.microsoft.com/office/drawing/2014/main" id="{BBC34D89-DF31-426B-9032-173ABB3BD3C7}"/>
              </a:ext>
            </a:extLst>
          </p:cNvPr>
          <p:cNvSpPr>
            <a:spLocks noGrp="1"/>
          </p:cNvSpPr>
          <p:nvPr/>
        </p:nvSpPr>
        <p:spPr>
          <a:xfrm>
            <a:off x="4968964" y="3975103"/>
            <a:ext cx="3807680" cy="53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/>
          <a:p>
            <a:r>
              <a:rPr dirty="0">
                <a:solidFill>
                  <a:schemeClr val="bg1"/>
                </a:solidFill>
              </a:rPr>
              <a:t>Ventes </a:t>
            </a:r>
            <a:r>
              <a:rPr dirty="0" err="1">
                <a:solidFill>
                  <a:schemeClr val="bg1"/>
                </a:solidFill>
              </a:rPr>
              <a:t>d’octobre</a:t>
            </a:r>
            <a:r>
              <a:rPr dirty="0">
                <a:solidFill>
                  <a:schemeClr val="bg1"/>
                </a:solidFill>
              </a:rPr>
              <a:t> · Stock au 31 </a:t>
            </a:r>
            <a:r>
              <a:rPr dirty="0" err="1">
                <a:solidFill>
                  <a:schemeClr val="bg1"/>
                </a:solidFill>
              </a:rPr>
              <a:t>octobre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58" name="Google Shape;58;p1">
            <a:extLst>
              <a:ext uri="{FF2B5EF4-FFF2-40B4-BE49-F238E27FC236}">
                <a16:creationId xmlns:a16="http://schemas.microsoft.com/office/drawing/2014/main" id="{7078213F-B024-45FA-82D6-4C6CD4F9F4B1}"/>
              </a:ext>
            </a:extLst>
          </p:cNvPr>
          <p:cNvSpPr>
            <a:spLocks noGrp="1"/>
          </p:cNvSpPr>
          <p:nvPr/>
        </p:nvSpPr>
        <p:spPr>
          <a:xfrm>
            <a:off x="4968964" y="4593883"/>
            <a:ext cx="3807680" cy="53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/>
          <a:p>
            <a:r>
              <a:rPr dirty="0">
                <a:solidFill>
                  <a:schemeClr val="bg1"/>
                </a:solidFill>
              </a:rPr>
              <a:t>08/08/2026</a:t>
            </a:r>
          </a:p>
        </p:txBody>
      </p:sp>
    </p:spTree>
    <p:extLst>
      <p:ext uri="{BB962C8B-B14F-4D97-AF65-F5344CB8AC3E}">
        <p14:creationId xmlns:p14="http://schemas.microsoft.com/office/powerpoint/2010/main" val="15327940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13f9e8f1567_0_0">
            <a:extLst>
              <a:ext uri="{FF2B5EF4-FFF2-40B4-BE49-F238E27FC236}">
                <a16:creationId xmlns:a16="http://schemas.microsoft.com/office/drawing/2014/main" id="{CF16D420-20FD-4222-B1D2-B06A18E7035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1390200"/>
          </a:xfrm>
          <a:prstGeom prst="rect">
            <a:avLst/>
          </a:prstGeom>
          <a:solidFill>
            <a:srgbClr val="004D40"/>
          </a:solidFill>
          <a:ln w="9525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6" name="Google Shape;96;g13f9e8f1567_0_0">
            <a:extLst>
              <a:ext uri="{FF2B5EF4-FFF2-40B4-BE49-F238E27FC236}">
                <a16:creationId xmlns:a16="http://schemas.microsoft.com/office/drawing/2014/main" id="{B8E96EAB-6E7A-48B7-803B-5CC6A87565AC}"/>
              </a:ext>
            </a:extLst>
          </p:cNvPr>
          <p:cNvSpPr>
            <a:spLocks noGrp="1"/>
          </p:cNvSpPr>
          <p:nvPr/>
        </p:nvSpPr>
        <p:spPr>
          <a:xfrm>
            <a:off x="895525" y="3372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sz="2500">
                <a:solidFill>
                  <a:srgbClr val="F3F3F3"/>
                </a:solidFill>
                <a:latin typeface="Montserrat"/>
                <a:ea typeface="Montserrat"/>
                <a:cs typeface="Montserrat"/>
              </a:rPr>
              <a:t>Trois arbitrages pour protéger cash et marge</a:t>
            </a:r>
            <a:endParaRPr/>
          </a:p>
        </p:txBody>
      </p:sp>
      <p:sp>
        <p:nvSpPr>
          <p:cNvPr id="97" name="Google Shape;97;g13f9e8f1567_0_0">
            <a:extLst>
              <a:ext uri="{FF2B5EF4-FFF2-40B4-BE49-F238E27FC236}">
                <a16:creationId xmlns:a16="http://schemas.microsoft.com/office/drawing/2014/main" id="{A796B365-DC90-44EC-97EB-574D4F12A7B6}"/>
              </a:ext>
            </a:extLst>
          </p:cNvPr>
          <p:cNvSpPr>
            <a:spLocks noGrp="1"/>
          </p:cNvSpPr>
          <p:nvPr/>
        </p:nvSpPr>
        <p:spPr>
          <a:xfrm>
            <a:off x="1012175" y="993350"/>
            <a:ext cx="452700" cy="50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8" name="Google Shape;98;g13f9e8f1567_0_0">
            <a:extLst>
              <a:ext uri="{FF2B5EF4-FFF2-40B4-BE49-F238E27FC236}">
                <a16:creationId xmlns:a16="http://schemas.microsoft.com/office/drawing/2014/main" id="{62836F5E-2184-4A55-B991-18EBB5FF96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7274" y="1528600"/>
            <a:ext cx="83160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pPr>
            <a:r>
              <a:rPr sz="1800"/>
              <a:t>1. Fiabiliser les clés Web et statuer sur les erreurs certaines.</a:t>
            </a:r>
            <a:endParaRPr i="1">
              <a:solidFill>
                <a:srgbClr val="999999"/>
              </a:solidFill>
              <a:latin typeface="Montserrat"/>
              <a:ea typeface="Montserrat"/>
              <a:cs typeface="Montserrat"/>
            </a:endParaRPr>
          </a:p>
          <a:p>
            <a:pPr>
              <a:buNone/>
              <a:defRPr sz="1800"/>
            </a:pPr>
            <a:r>
              <a:rPr sz="1800"/>
              <a:t>2. Revoir 24 surstocks et 14 959 € sans vente observée.</a:t>
            </a:r>
          </a:p>
          <a:p>
            <a:pPr>
              <a:buNone/>
              <a:defRPr sz="1800"/>
            </a:pPr>
            <a:r>
              <a:rPr sz="1800"/>
              <a:t>3. Confirmer le coût 4355 avant toute action prix ou achat.</a:t>
            </a:r>
          </a:p>
        </p:txBody>
      </p:sp>
    </p:spTree>
    <p:extLst>
      <p:ext uri="{BB962C8B-B14F-4D97-AF65-F5344CB8AC3E}">
        <p14:creationId xmlns:p14="http://schemas.microsoft.com/office/powerpoint/2010/main" val="814484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6ECEE-3FD1-4D24-8D52-6AB007C21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714 produits rapprochés en cardinalité 1–1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11DC70-C9A2-4F71-9441-B0B5A0865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  <a:defRPr sz="1800"/>
            </a:pPr>
            <a:r>
              <a:rPr sz="1800"/>
              <a:t>825 ERP → 734 identifiants Web → 714 produits appariés.</a:t>
            </a:r>
          </a:p>
          <a:p>
            <a:pPr>
              <a:buNone/>
              <a:defRPr sz="1800"/>
            </a:pPr>
            <a:r>
              <a:rPr sz="1800"/>
              <a:t>111 références ERP hors périmètre Web : 91 sans ID, 20 liens absents.</a:t>
            </a:r>
          </a:p>
          <a:p>
            <a:pPr>
              <a:buNone/>
              <a:defRPr sz="1800"/>
            </a:pPr>
            <a:r>
              <a:rPr sz="1800"/>
              <a:t>Clés non nulles uniques ; cardinalités un-à-un contrôlées.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43000" y="2381250"/>
            <a:ext cx="6858000" cy="238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4065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97DD6-DDF0-4EF4-94B5-702B2DDE5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Octobre en quatre chiffres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4B28AE-F743-497B-BE2E-64650E681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  <a:defRPr sz="1800"/>
            </a:pPr>
            <a:r>
              <a:rPr sz="1800"/>
              <a:t>143 680 € de CA TTC | 5 751 unités vendues</a:t>
            </a:r>
          </a:p>
          <a:p>
            <a:pPr>
              <a:buNone/>
              <a:defRPr sz="1800"/>
            </a:pPr>
            <a:r>
              <a:rPr sz="1800"/>
              <a:t>44 661 € de marge brute HT | 37,3 % de taux de marque pondéré</a:t>
            </a:r>
          </a:p>
          <a:p>
            <a:pPr>
              <a:buNone/>
              <a:defRPr sz="1800"/>
            </a:pPr>
            <a:r>
              <a:rPr sz="1800"/>
              <a:t>277 306 € de stock apparié au coût HT, brut signé</a:t>
            </a:r>
          </a:p>
          <a:p>
            <a:pPr>
              <a:buNone/>
              <a:defRPr sz="1800"/>
            </a:pPr>
            <a:r>
              <a:rPr sz="1800"/>
              <a:t>Périmètre : octobre / 31 octobre ; année d’extraction à confirmer.</a:t>
            </a:r>
          </a:p>
        </p:txBody>
      </p:sp>
    </p:spTree>
    <p:extLst>
      <p:ext uri="{BB962C8B-B14F-4D97-AF65-F5344CB8AC3E}">
        <p14:creationId xmlns:p14="http://schemas.microsoft.com/office/powerpoint/2010/main" val="814533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067D8-2D52-47D3-8D6A-210610A72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Top 10 : seulement 6,9 % du CA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AA486B-E94B-4D91-B28D-3BE2369153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  <a:defRPr sz="1800"/>
            </a:pPr>
            <a:r>
              <a:rPr sz="1800"/>
              <a:t>La meilleure référence pèse 1,7 % du CA.</a:t>
            </a:r>
          </a:p>
          <a:p>
            <a:pPr>
              <a:buNone/>
              <a:defRPr sz="1800"/>
            </a:pPr>
            <a:r>
              <a:rPr sz="1800"/>
              <a:t>La performance dépend d’un catalogue large, pas de quelques best-sellers.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57250" y="1952625"/>
            <a:ext cx="7429500" cy="2905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9218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52FCE-1500-490B-BF0B-BBA07404F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Atteindre 80 % du CA exige 435 références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67DF43-7A85-4C7B-8576-288D9EC67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  <a:defRPr sz="1800"/>
            </a:pPr>
            <a:r>
              <a:rPr sz="1800"/>
              <a:t>Soit 60,9 % du catalogue rapproché.</a:t>
            </a:r>
          </a:p>
          <a:p>
            <a:pPr>
              <a:buNone/>
              <a:defRPr sz="1800"/>
            </a:pPr>
            <a:r>
              <a:rPr sz="1800"/>
              <a:t>Pas de Pareto 20/80 : prioriser avec marge et stock, pas le CA seul.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47750" y="2095500"/>
            <a:ext cx="7048500" cy="2762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648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3A07F-374C-411B-A593-D8DC22A5F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33 prix atypiques sont à revoir, pas à corriger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0C1B46-E606-4A2C-8FA3-4E44AA5982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  <a:defRPr sz="1800"/>
            </a:pPr>
            <a:r>
              <a:rPr sz="1800"/>
              <a:t>Test MAD : rappel 100 %, alertes 4,6 %, Jaccard 0,91.</a:t>
            </a:r>
          </a:p>
          <a:p>
            <a:pPr>
              <a:buNone/>
              <a:defRPr sz="1800"/>
            </a:pPr>
            <a:r>
              <a:rPr sz="1800"/>
              <a:t>Les 3 prix négatifs restent des erreurs certaines distinctes.</a:t>
            </a:r>
          </a:p>
        </p:txBody>
      </p:sp>
      <p:pic>
        <p:nvPicPr>
          <p:cNvPr id="10" name="Image 9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33375" y="2952750"/>
            <a:ext cx="3952875" cy="1952625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62500" y="1381125"/>
            <a:ext cx="3714750" cy="223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349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12B43-33E9-46AF-8E14-C7C0B89A3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95 012 € de stock à plus de 12 mois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C7970D-FF1A-4BBD-89B0-0FD0A91DEB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  <a:defRPr sz="1800"/>
            </a:pPr>
            <a:r>
              <a:rPr sz="1800"/>
              <a:t>24 références ; 34,3 % de la valeur au coût du stock apparié.</a:t>
            </a:r>
          </a:p>
          <a:p>
            <a:pPr>
              <a:buNone/>
              <a:defRPr sz="1800"/>
            </a:pPr>
            <a:r>
              <a:rPr sz="1800"/>
              <a:t>22 références vendues terminent à stock nul. Scénario, pas prévision.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95375" y="2095500"/>
            <a:ext cx="6953250" cy="2762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905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93BD07-04B8-4A11-8381-F8CCAF340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14 959 € de stock n’ont aucune vente observée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169780-E1CA-46E6-88D1-95A7DB6C06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  <a:defRPr sz="1800"/>
            </a:pPr>
            <a:r>
              <a:rPr sz="1800"/>
              <a:t>3 références concentrent ce risque au coût d’achat HT.</a:t>
            </a:r>
          </a:p>
          <a:p>
            <a:pPr>
              <a:buNone/>
              <a:defRPr sz="1800"/>
            </a:pPr>
            <a:r>
              <a:rPr sz="1800"/>
              <a:t>Confirmer disponibilité Web, coût et statut avant déstockage.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66750" y="2524125"/>
            <a:ext cx="7810500" cy="223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310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3A07F-374C-411B-A593-D8DC22A5F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marge est saine, sauf un coût à confirmer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0C1B46-E606-4A2C-8FA3-4E44AA5982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  <a:defRPr sz="1800"/>
            </a:pPr>
            <a:r>
              <a:rPr sz="1800"/>
              <a:t>44 661 € HT de marge brute ; taux de marque pondéré 37,3 %.</a:t>
            </a:r>
          </a:p>
          <a:p>
            <a:pPr>
              <a:buNone/>
              <a:defRPr sz="1800"/>
            </a:pPr>
            <a:r>
              <a:rPr sz="1800"/>
              <a:t>Référence 4355 : coût 77,48 € vs vente 10,54 € HT, zéro vente.</a:t>
            </a:r>
          </a:p>
        </p:txBody>
      </p:sp>
      <p:pic>
        <p:nvPicPr>
          <p:cNvPr id="10" name="Image 9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33375" y="2905125"/>
            <a:ext cx="4000500" cy="200025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62500" y="1381125"/>
            <a:ext cx="3714750" cy="223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3492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7515A-BC83-41F5-8E42-D1AB66B89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Prix–volumes : association, pas causalité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A233F-AD1D-4346-B0D5-F8BAF7348D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  <a:defRPr sz="1800"/>
            </a:pPr>
            <a:r>
              <a:rPr sz="1800"/>
              <a:t>Spearman ρ = −0,70 sur octobre.</a:t>
            </a:r>
          </a:p>
          <a:p>
            <a:pPr>
              <a:buNone/>
              <a:defRPr sz="1800"/>
            </a:pPr>
            <a:r>
              <a:rPr sz="1800"/>
              <a:t>Tester prix et promotion par segment avant toute baisse générale.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52500" y="2095500"/>
            <a:ext cx="7239000" cy="2714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7044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13f9e8f1567_0_0">
            <a:extLst>
              <a:ext uri="{FF2B5EF4-FFF2-40B4-BE49-F238E27FC236}">
                <a16:creationId xmlns:a16="http://schemas.microsoft.com/office/drawing/2014/main" id="{CF16D420-20FD-4222-B1D2-B06A18E7035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1390200"/>
          </a:xfrm>
          <a:prstGeom prst="rect">
            <a:avLst/>
          </a:prstGeom>
          <a:solidFill>
            <a:srgbClr val="004D40"/>
          </a:solidFill>
          <a:ln w="9525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6" name="Google Shape;96;g13f9e8f1567_0_0">
            <a:extLst>
              <a:ext uri="{FF2B5EF4-FFF2-40B4-BE49-F238E27FC236}">
                <a16:creationId xmlns:a16="http://schemas.microsoft.com/office/drawing/2014/main" id="{B8E96EAB-6E7A-48B7-803B-5CC6A87565AC}"/>
              </a:ext>
            </a:extLst>
          </p:cNvPr>
          <p:cNvSpPr>
            <a:spLocks noGrp="1"/>
          </p:cNvSpPr>
          <p:nvPr/>
        </p:nvSpPr>
        <p:spPr>
          <a:xfrm>
            <a:off x="895525" y="3372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sz="2500">
                <a:solidFill>
                  <a:srgbClr val="F3F3F3"/>
                </a:solidFill>
                <a:latin typeface="Montserrat"/>
                <a:ea typeface="Montserrat"/>
                <a:cs typeface="Montserrat"/>
              </a:rPr>
              <a:t>Décisions, responsables et échéances</a:t>
            </a:r>
            <a:endParaRPr/>
          </a:p>
        </p:txBody>
      </p:sp>
      <p:sp>
        <p:nvSpPr>
          <p:cNvPr id="97" name="Google Shape;97;g13f9e8f1567_0_0">
            <a:extLst>
              <a:ext uri="{FF2B5EF4-FFF2-40B4-BE49-F238E27FC236}">
                <a16:creationId xmlns:a16="http://schemas.microsoft.com/office/drawing/2014/main" id="{A796B365-DC90-44EC-97EB-574D4F12A7B6}"/>
              </a:ext>
            </a:extLst>
          </p:cNvPr>
          <p:cNvSpPr>
            <a:spLocks noGrp="1"/>
          </p:cNvSpPr>
          <p:nvPr/>
        </p:nvSpPr>
        <p:spPr>
          <a:xfrm>
            <a:off x="1012175" y="993350"/>
            <a:ext cx="452700" cy="50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8" name="Google Shape;98;g13f9e8f1567_0_0">
            <a:extLst>
              <a:ext uri="{FF2B5EF4-FFF2-40B4-BE49-F238E27FC236}">
                <a16:creationId xmlns:a16="http://schemas.microsoft.com/office/drawing/2014/main" id="{62836F5E-2184-4A55-B991-18EBB5FF96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7274" y="1528600"/>
            <a:ext cx="83160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pPr>
            <a:r>
              <a:rPr sz="1800"/>
              <a:t>D+7 · Data owner — statuer sur les erreurs certaines et mappings critiques.</a:t>
            </a:r>
            <a:endParaRPr i="1">
              <a:solidFill>
                <a:srgbClr val="999999"/>
              </a:solidFill>
              <a:latin typeface="Montserrat"/>
              <a:ea typeface="Montserrat"/>
              <a:cs typeface="Montserrat"/>
            </a:endParaRPr>
          </a:p>
          <a:p>
            <a:pPr>
              <a:buNone/>
              <a:defRPr sz="1800"/>
            </a:pPr>
            <a:r>
              <a:rPr sz="1800"/>
              <a:t>D+14 · Achats — revoir 24 surstocks et confirmer le coût 4355.</a:t>
            </a:r>
          </a:p>
          <a:p>
            <a:pPr>
              <a:buNone/>
              <a:defRPr sz="1800"/>
            </a:pPr>
            <a:r>
              <a:rPr sz="1800"/>
              <a:t>D+14 · E-commerce — traiter 22 stocks nuls et statuts croisés.</a:t>
            </a:r>
          </a:p>
          <a:p>
            <a:pPr>
              <a:buNone/>
              <a:defRPr sz="1800"/>
            </a:pPr>
            <a:r>
              <a:rPr sz="1800"/>
              <a:t>Mensuel · Finance/Data — republier les KPI et le registre qualité.</a:t>
            </a:r>
          </a:p>
        </p:txBody>
      </p:sp>
    </p:spTree>
    <p:extLst>
      <p:ext uri="{BB962C8B-B14F-4D97-AF65-F5344CB8AC3E}">
        <p14:creationId xmlns:p14="http://schemas.microsoft.com/office/powerpoint/2010/main" val="81448408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859</Words>
  <Application>Microsoft Office PowerPoint</Application>
  <DocSecurity>0</DocSecurity>
  <PresentationFormat>Affichage à l'écran (16:9)</PresentationFormat>
  <Paragraphs>90</Paragraphs>
  <Slides>12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5" baseType="lpstr">
      <vt:lpstr>Montserrat</vt:lpstr>
      <vt:lpstr>Arial</vt:lpstr>
      <vt:lpstr>Simple Light</vt:lpstr>
      <vt:lpstr>Présentation PowerPoint</vt:lpstr>
      <vt:lpstr>Présentation PowerPoint</vt:lpstr>
      <vt:lpstr>714 produits rapprochés en cardinalité 1–1</vt:lpstr>
      <vt:lpstr>Octobre en quatre chiffres</vt:lpstr>
      <vt:lpstr>Top 10 : seulement 6,9 % du CA</vt:lpstr>
      <vt:lpstr>Atteindre 80 % du CA exige 435 références</vt:lpstr>
      <vt:lpstr>33 prix atypiques sont à revoir, pas à corriger</vt:lpstr>
      <vt:lpstr>95 012 € de stock à plus de 12 mois</vt:lpstr>
      <vt:lpstr>14 959 € de stock n’ont aucune vente observée</vt:lpstr>
      <vt:lpstr>La marge est saine, sauf un coût à confirmer</vt:lpstr>
      <vt:lpstr>Prix–volumes : association, pas causalité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Kevin Henkes</cp:lastModifiedBy>
  <cp:revision>1</cp:revision>
  <dcterms:created xsi:type="dcterms:W3CDTF">2026-08-08T14:29:54Z</dcterms:created>
  <dcterms:modified xsi:type="dcterms:W3CDTF">2026-08-25T12:23:53Z</dcterms:modified>
</cp:coreProperties>
</file>