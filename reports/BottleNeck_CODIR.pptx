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a06d872c9e468b" /><Relationship Type="http://schemas.openxmlformats.org/officeDocument/2006/relationships/extended-properties" Target="/docProps/app.xml" Id="R9a3d634452e54ff6" /><Relationship Type="http://schemas.openxmlformats.org/officeDocument/2006/relationships/officeDocument" Target="/ppt/presentation.xml" Id="Rcc0ad2fbe8464aaa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1edc5a9a366646f7"/>
  </p:sldMasterIdLst>
  <p:notesMasterIdLst>
    <p:notesMasterId xmlns:r="http://schemas.openxmlformats.org/officeDocument/2006/relationships" r:id="R7136576f323e490a"/>
  </p:notesMasterIdLst>
  <p:sldIdLst>
    <p:sldId xmlns:r="http://schemas.openxmlformats.org/officeDocument/2006/relationships" id="256" r:id="R24b0b0f851bc4209"/>
    <p:sldId xmlns:r="http://schemas.openxmlformats.org/officeDocument/2006/relationships" id="257" r:id="R777e639cd2cf48ab"/>
    <p:sldId xmlns:r="http://schemas.openxmlformats.org/officeDocument/2006/relationships" id="258" r:id="R0ef05dff91a248e4"/>
    <p:sldId xmlns:r="http://schemas.openxmlformats.org/officeDocument/2006/relationships" id="259" r:id="R61761aa540754597"/>
    <p:sldId xmlns:r="http://schemas.openxmlformats.org/officeDocument/2006/relationships" id="260" r:id="R9959202dcce141cc"/>
    <p:sldId xmlns:r="http://schemas.openxmlformats.org/officeDocument/2006/relationships" id="261" r:id="R3b242fc6f8f94f1d"/>
    <p:sldId xmlns:r="http://schemas.openxmlformats.org/officeDocument/2006/relationships" id="262" r:id="R09cbcc3d51a8419b"/>
    <p:sldId xmlns:r="http://schemas.openxmlformats.org/officeDocument/2006/relationships" id="263" r:id="Rc276efb1a86c4483"/>
    <p:sldId xmlns:r="http://schemas.openxmlformats.org/officeDocument/2006/relationships" id="264" r:id="Rd5025e60ba6347ed"/>
    <p:sldId xmlns:r="http://schemas.openxmlformats.org/officeDocument/2006/relationships" id="265" r:id="R02f7166cc1a640dd"/>
    <p:sldId xmlns:r="http://schemas.openxmlformats.org/officeDocument/2006/relationships" id="266" r:id="R847dea6ddd774990"/>
    <p:sldId xmlns:r="http://schemas.openxmlformats.org/officeDocument/2006/relationships" id="267" r:id="Rdcf96355642c4392"/>
  </p:sldIdLst>
  <p:sldSz cx="9144000" cy="5143500"/>
  <p:notesSz cx="6858000" cy="9144000"/>
  <p:embeddedFontLst>
    <p:embeddedFont>
      <p:font typeface="Montserrat"/>
      <p:regular xmlns:r="http://schemas.openxmlformats.org/officeDocument/2006/relationships" r:id="R9ec1f585aab74ac0"/>
      <p:bold xmlns:r="http://schemas.openxmlformats.org/officeDocument/2006/relationships" r:id="R2d6b037959d440e0"/>
      <p:italic xmlns:r="http://schemas.openxmlformats.org/officeDocument/2006/relationships" r:id="R418ee44dbef34ab0"/>
      <p:boldItalic xmlns:r="http://schemas.openxmlformats.org/officeDocument/2006/relationships" r:id="R49bb4260123546a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b5e93a6b76406b" /><Relationship Type="http://schemas.openxmlformats.org/officeDocument/2006/relationships/slideMaster" Target="/ppt/slideMasters/slideMaster1.xml" Id="R1edc5a9a366646f7" /><Relationship Type="http://schemas.openxmlformats.org/officeDocument/2006/relationships/notesMaster" Target="/ppt/notesMasters/notesMaster1.xml" Id="R7136576f323e490a" /><Relationship Type="http://schemas.openxmlformats.org/officeDocument/2006/relationships/presProps" Target="/ppt/presProps.xml" Id="Rb34d0862abc54d44" /><Relationship Type="http://schemas.openxmlformats.org/officeDocument/2006/relationships/viewProps" Target="/ppt/viewProps.xml" Id="R2c3b0109635c420d" /><Relationship Type="http://schemas.openxmlformats.org/officeDocument/2006/relationships/tableStyles" Target="/ppt/tableStyles.xml" Id="Rdf151ace667140c9" /><Relationship Type="http://schemas.openxmlformats.org/officeDocument/2006/relationships/font" Target="/ppt/fonts/font.dat" Id="R9ec1f585aab74ac0" /><Relationship Type="http://schemas.openxmlformats.org/officeDocument/2006/relationships/font" Target="/ppt/fonts/font2.dat" Id="R2d6b037959d440e0" /><Relationship Type="http://schemas.openxmlformats.org/officeDocument/2006/relationships/font" Target="/ppt/fonts/font3.dat" Id="R418ee44dbef34ab0" /><Relationship Type="http://schemas.openxmlformats.org/officeDocument/2006/relationships/font" Target="/ppt/fonts/font4.dat" Id="R49bb4260123546a7" /><Relationship Type="http://schemas.openxmlformats.org/officeDocument/2006/relationships/slide" Target="/ppt/slides/slide1.xml" Id="R24b0b0f851bc4209" /><Relationship Type="http://schemas.openxmlformats.org/officeDocument/2006/relationships/slide" Target="/ppt/slides/slide2.xml" Id="R777e639cd2cf48ab" /><Relationship Type="http://schemas.openxmlformats.org/officeDocument/2006/relationships/slide" Target="/ppt/slides/slide3.xml" Id="R0ef05dff91a248e4" /><Relationship Type="http://schemas.openxmlformats.org/officeDocument/2006/relationships/slide" Target="/ppt/slides/slide4.xml" Id="R61761aa540754597" /><Relationship Type="http://schemas.openxmlformats.org/officeDocument/2006/relationships/slide" Target="/ppt/slides/slide5.xml" Id="R9959202dcce141cc" /><Relationship Type="http://schemas.openxmlformats.org/officeDocument/2006/relationships/slide" Target="/ppt/slides/slide6.xml" Id="R3b242fc6f8f94f1d" /><Relationship Type="http://schemas.openxmlformats.org/officeDocument/2006/relationships/slide" Target="/ppt/slides/slide7.xml" Id="R09cbcc3d51a8419b" /><Relationship Type="http://schemas.openxmlformats.org/officeDocument/2006/relationships/slide" Target="/ppt/slides/slide8.xml" Id="Rc276efb1a86c4483" /><Relationship Type="http://schemas.openxmlformats.org/officeDocument/2006/relationships/slide" Target="/ppt/slides/slide9.xml" Id="Rd5025e60ba6347ed" /><Relationship Type="http://schemas.openxmlformats.org/officeDocument/2006/relationships/slide" Target="/ppt/slides/slide10.xml" Id="R02f7166cc1a640dd" /><Relationship Type="http://schemas.openxmlformats.org/officeDocument/2006/relationships/slide" Target="/ppt/slides/slide11.xml" Id="R847dea6ddd774990" /><Relationship Type="http://schemas.openxmlformats.org/officeDocument/2006/relationships/slide" Target="/ppt/slides/slide12.xml" Id="Rdcf96355642c43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068e7f6c6242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8503ca8bb41e3" /><Relationship Type="http://schemas.openxmlformats.org/officeDocument/2006/relationships/notesMaster" Target="/ppt/notesMasters/notesMaster1.xml" Id="Rc2848fabdb064e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16ad2fed994abd" /><Relationship Type="http://schemas.openxmlformats.org/officeDocument/2006/relationships/notesMaster" Target="/ppt/notesMasters/notesMaster1.xml" Id="R6fdde1b9367d47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86e83c72db48f3" /><Relationship Type="http://schemas.openxmlformats.org/officeDocument/2006/relationships/notesMaster" Target="/ppt/notesMasters/notesMaster1.xml" Id="Rfc2997a704ac4a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98d2c23af24fe7" /><Relationship Type="http://schemas.openxmlformats.org/officeDocument/2006/relationships/notesMaster" Target="/ppt/notesMasters/notesMaster1.xml" Id="Rabd409cafb4645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2428727bb847ce" /><Relationship Type="http://schemas.openxmlformats.org/officeDocument/2006/relationships/notesMaster" Target="/ppt/notesMasters/notesMaster1.xml" Id="Recf3d3b78e0245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a71eca53b146a1" /><Relationship Type="http://schemas.openxmlformats.org/officeDocument/2006/relationships/notesMaster" Target="/ppt/notesMasters/notesMaster1.xml" Id="Rd6eaa90c47ee4c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272486aa35437b" /><Relationship Type="http://schemas.openxmlformats.org/officeDocument/2006/relationships/notesMaster" Target="/ppt/notesMasters/notesMaster1.xml" Id="R6eade525f3f3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3bb868eab4424f" /><Relationship Type="http://schemas.openxmlformats.org/officeDocument/2006/relationships/notesMaster" Target="/ppt/notesMasters/notesMaster1.xml" Id="Rd4132e08274c46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f5e04f2280454b" /><Relationship Type="http://schemas.openxmlformats.org/officeDocument/2006/relationships/notesMaster" Target="/ppt/notesMasters/notesMaster1.xml" Id="R346a95acf1a543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5bc585f94e4c08" /><Relationship Type="http://schemas.openxmlformats.org/officeDocument/2006/relationships/notesMaster" Target="/ppt/notesMasters/notesMaster1.xml" Id="R447e529214c344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0de41c1b4c4db3" /><Relationship Type="http://schemas.openxmlformats.org/officeDocument/2006/relationships/notesMaster" Target="/ppt/notesMasters/notesMaster1.xml" Id="Ra603abd322544b2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c3c52ff25d4566" /><Relationship Type="http://schemas.openxmlformats.org/officeDocument/2006/relationships/notesMaster" Target="/ppt/notesMasters/notesMaster1.xml" Id="Rb375760d21894f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reports/tables/indicateurs_cles.json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docs/limites_biais.md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reports/tables/indicateurs_cles.json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reports/tables/registre_qualite.csv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docs/synthese_codir.md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reports/tables/audit_jointures.csv</a:t>
            </a:r>
          </a:p>
          <a:p xmlns:a="http://schemas.openxmlformats.org/drawingml/2006/main">
            <a:r>
              <a:t>- reports/figures/01_rapprochement_sources.png</a:t>
            </a:r>
          </a:p>
          <a:p xmlns:a="http://schemas.openxmlformats.org/drawingml/2006/main">
            <a:r>
              <a:t>- docs/limites_biais.md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docs/limites_biais.md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reports/tables/top20_ca_octobre.csv</a:t>
            </a:r>
          </a:p>
          <a:p xmlns:a="http://schemas.openxmlformats.org/drawingml/2006/main">
            <a:r>
              <a:t>- reports/figures/02_top10_ca_octobre.png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reports/figures/03_pareto_ca_octobre.png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reports/tables/comparaison_methodes_outliers.csv</a:t>
            </a:r>
          </a:p>
          <a:p xmlns:a="http://schemas.openxmlformats.org/drawingml/2006/main">
            <a:r>
              <a:t>- reports/tables/registre_qualite.csv</a:t>
            </a:r>
          </a:p>
          <a:p xmlns:a="http://schemas.openxmlformats.org/drawingml/2006/main">
            <a:r>
              <a:t>- https://www.itl.nist.gov/div898/handbook/eda/section3/eda35h.htm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reports/tables/priorites_stock.csv</a:t>
            </a:r>
          </a:p>
          <a:p xmlns:a="http://schemas.openxmlformats.org/drawingml/2006/main">
            <a:r>
              <a:t>- reports/figures/05_segments_stock.png</a:t>
            </a:r>
          </a:p>
          <a:p xmlns:a="http://schemas.openxmlformats.org/drawingml/2006/main">
            <a:r>
              <a:t>- docs/limites_biais.md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reports/tables/priorites_stock.csv</a:t>
            </a:r>
          </a:p>
          <a:p xmlns:a="http://schemas.openxmlformats.org/drawingml/2006/main">
            <a:r>
              <a:t>- reports/figures/09_stock_sans_vente_octobre.png</a:t>
            </a:r>
          </a:p>
          <a:p xmlns:a="http://schemas.openxmlformats.org/drawingml/2006/main">
            <a:r>
              <a:t>- docs/limites_biais.md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reports/tables/registre_qualite.csv</a:t>
            </a:r>
          </a:p>
          <a:p xmlns:a="http://schemas.openxmlformats.org/drawingml/2006/main">
            <a:r>
              <a:t>- reports/figures/06_marge_ponderee_type.png</a:t>
            </a:r>
          </a:p>
          <a:p xmlns:a="http://schemas.openxmlformats.org/drawingml/2006/main">
            <a:r>
              <a:t>- docs/limites_biais.md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reports/tables/indicateurs_cles.json</a:t>
            </a:r>
          </a:p>
          <a:p xmlns:a="http://schemas.openxmlformats.org/drawingml/2006/main">
            <a:r>
              <a:t>- reports/figures/11_prix_vs_ventes_octobre.png</a:t>
            </a:r>
          </a:p>
          <a:p xmlns:a="http://schemas.openxmlformats.org/drawingml/2006/main">
            <a:r>
              <a:t>- docs/limites_biais.md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docs/synthese_codir.md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docs/backlog_planning_risques.md</a:t>
            </a:r>
            <a:endParaRPr/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- reports/tables/registre_qualite.csv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fa17146b245c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6dd67103d40b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7f75799a5e4d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580d116bf4c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c07019f5142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e62eca944e475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bf48021ee1437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eddfd9c294c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e3c3a93d94b7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318ab41d440a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19827a8d6410b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0">
            <a:extLst xmlns:a="http://schemas.openxmlformats.org/drawingml/2006/main">
              <a:ext uri="{FF2B5EF4-FFF2-40B4-BE49-F238E27FC236}">
                <a16:creationId xmlns:a16="http://schemas.microsoft.com/office/drawing/2014/main" id="{2525F0DA-FDB8-4967-AAD1-C03E1BE0FE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0">
            <a:extLst xmlns:a="http://schemas.openxmlformats.org/drawingml/2006/main">
              <a:ext uri="{FF2B5EF4-FFF2-40B4-BE49-F238E27FC236}">
                <a16:creationId xmlns:a16="http://schemas.microsoft.com/office/drawing/2014/main" id="{F6791C34-B520-4432-AF9C-D55FAAB4B16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0">
            <a:extLst xmlns:a="http://schemas.openxmlformats.org/drawingml/2006/main">
              <a:ext uri="{FF2B5EF4-FFF2-40B4-BE49-F238E27FC236}">
                <a16:creationId xmlns:a16="http://schemas.microsoft.com/office/drawing/2014/main" id="{9D10DD95-F16A-4A77-8B0A-57AE045D0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11">
            <a:extLst xmlns:a="http://schemas.openxmlformats.org/drawingml/2006/main">
              <a:ext uri="{FF2B5EF4-FFF2-40B4-BE49-F238E27FC236}">
                <a16:creationId xmlns:a16="http://schemas.microsoft.com/office/drawing/2014/main" id="{353981F4-FC85-4BFF-AEE3-74708186C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11">
            <a:extLst xmlns:a="http://schemas.openxmlformats.org/drawingml/2006/main">
              <a:ext uri="{FF2B5EF4-FFF2-40B4-BE49-F238E27FC236}">
                <a16:creationId xmlns:a16="http://schemas.microsoft.com/office/drawing/2014/main" id="{A23D9DBF-AAF2-49FE-BE80-9FC5565960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" name="Google Shape;16;p11">
            <a:extLst xmlns:a="http://schemas.openxmlformats.org/drawingml/2006/main">
              <a:ext uri="{FF2B5EF4-FFF2-40B4-BE49-F238E27FC236}">
                <a16:creationId xmlns:a16="http://schemas.microsoft.com/office/drawing/2014/main" id="{C54FBF37-328A-4E56-AFF0-EBDFAF1FF6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12">
            <a:extLst xmlns:a="http://schemas.openxmlformats.org/drawingml/2006/main">
              <a:ext uri="{FF2B5EF4-FFF2-40B4-BE49-F238E27FC236}">
                <a16:creationId xmlns:a16="http://schemas.microsoft.com/office/drawing/2014/main" id="{9394D7E7-22D6-4FBE-883E-26C2B3465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2">
            <a:extLst xmlns:a="http://schemas.openxmlformats.org/drawingml/2006/main">
              <a:ext uri="{FF2B5EF4-FFF2-40B4-BE49-F238E27FC236}">
                <a16:creationId xmlns:a16="http://schemas.microsoft.com/office/drawing/2014/main" id="{5AA39D46-8B9C-4DC8-866A-F24D176F96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13">
            <a:extLst xmlns:a="http://schemas.openxmlformats.org/drawingml/2006/main">
              <a:ext uri="{FF2B5EF4-FFF2-40B4-BE49-F238E27FC236}">
                <a16:creationId xmlns:a16="http://schemas.microsoft.com/office/drawing/2014/main" id="{9F160331-1D4C-4BE1-8282-0514AC5B64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13">
            <a:extLst xmlns:a="http://schemas.openxmlformats.org/drawingml/2006/main">
              <a:ext uri="{FF2B5EF4-FFF2-40B4-BE49-F238E27FC236}">
                <a16:creationId xmlns:a16="http://schemas.microsoft.com/office/drawing/2014/main" id="{27B96E0D-434C-4F4A-9AD1-28903D44BE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13">
            <a:extLst xmlns:a="http://schemas.openxmlformats.org/drawingml/2006/main">
              <a:ext uri="{FF2B5EF4-FFF2-40B4-BE49-F238E27FC236}">
                <a16:creationId xmlns:a16="http://schemas.microsoft.com/office/drawing/2014/main" id="{8F575496-953A-4EA4-BCC0-4F9E627C0F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3">
            <a:extLst xmlns:a="http://schemas.openxmlformats.org/drawingml/2006/main">
              <a:ext uri="{FF2B5EF4-FFF2-40B4-BE49-F238E27FC236}">
                <a16:creationId xmlns:a16="http://schemas.microsoft.com/office/drawing/2014/main" id="{7DE46B7F-B3BE-463D-8DBF-024DB544B5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4">
            <a:extLst xmlns:a="http://schemas.openxmlformats.org/drawingml/2006/main">
              <a:ext uri="{FF2B5EF4-FFF2-40B4-BE49-F238E27FC236}">
                <a16:creationId xmlns:a16="http://schemas.microsoft.com/office/drawing/2014/main" id="{C27B3BE8-5E08-4860-AB87-6ABC367EC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14">
            <a:extLst xmlns:a="http://schemas.openxmlformats.org/drawingml/2006/main">
              <a:ext uri="{FF2B5EF4-FFF2-40B4-BE49-F238E27FC236}">
                <a16:creationId xmlns:a16="http://schemas.microsoft.com/office/drawing/2014/main" id="{CE6D016B-6B02-44A7-80F4-92989AD927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15">
            <a:extLst xmlns:a="http://schemas.openxmlformats.org/drawingml/2006/main">
              <a:ext uri="{FF2B5EF4-FFF2-40B4-BE49-F238E27FC236}">
                <a16:creationId xmlns:a16="http://schemas.microsoft.com/office/drawing/2014/main" id="{64A4B75D-9A72-4427-B97D-F4E6FE72A8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5">
            <a:extLst xmlns:a="http://schemas.openxmlformats.org/drawingml/2006/main">
              <a:ext uri="{FF2B5EF4-FFF2-40B4-BE49-F238E27FC236}">
                <a16:creationId xmlns:a16="http://schemas.microsoft.com/office/drawing/2014/main" id="{597605C6-66D0-435E-AEC6-14B9CB8428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15">
            <a:extLst xmlns:a="http://schemas.openxmlformats.org/drawingml/2006/main">
              <a:ext uri="{FF2B5EF4-FFF2-40B4-BE49-F238E27FC236}">
                <a16:creationId xmlns:a16="http://schemas.microsoft.com/office/drawing/2014/main" id="{4B9C2FF3-5993-4AE5-9540-CA52252620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16">
            <a:extLst xmlns:a="http://schemas.openxmlformats.org/drawingml/2006/main">
              <a:ext uri="{FF2B5EF4-FFF2-40B4-BE49-F238E27FC236}">
                <a16:creationId xmlns:a16="http://schemas.microsoft.com/office/drawing/2014/main" id="{F851C2B4-A231-4267-86A8-366062D7B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16">
            <a:extLst xmlns:a="http://schemas.openxmlformats.org/drawingml/2006/main">
              <a:ext uri="{FF2B5EF4-FFF2-40B4-BE49-F238E27FC236}">
                <a16:creationId xmlns:a16="http://schemas.microsoft.com/office/drawing/2014/main" id="{19C5E40F-FC11-4DFD-894B-86941C3A0F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7">
            <a:extLst xmlns:a="http://schemas.openxmlformats.org/drawingml/2006/main">
              <a:ext uri="{FF2B5EF4-FFF2-40B4-BE49-F238E27FC236}">
                <a16:creationId xmlns:a16="http://schemas.microsoft.com/office/drawing/2014/main" id="{F8427F1D-D40A-488E-8069-85A1657B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Google Shape;37;p17">
            <a:extLst xmlns:a="http://schemas.openxmlformats.org/drawingml/2006/main">
              <a:ext uri="{FF2B5EF4-FFF2-40B4-BE49-F238E27FC236}">
                <a16:creationId xmlns:a16="http://schemas.microsoft.com/office/drawing/2014/main" id="{B72AB706-BB25-443F-8549-E092F5B46B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17">
            <a:extLst xmlns:a="http://schemas.openxmlformats.org/drawingml/2006/main">
              <a:ext uri="{FF2B5EF4-FFF2-40B4-BE49-F238E27FC236}">
                <a16:creationId xmlns:a16="http://schemas.microsoft.com/office/drawing/2014/main" id="{F6220DEB-C086-4B2F-9682-C73608A87F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7">
            <a:extLst xmlns:a="http://schemas.openxmlformats.org/drawingml/2006/main">
              <a:ext uri="{FF2B5EF4-FFF2-40B4-BE49-F238E27FC236}">
                <a16:creationId xmlns:a16="http://schemas.microsoft.com/office/drawing/2014/main" id="{F055EF66-3D4E-4132-8FC9-CB37A1D81A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7">
            <a:extLst xmlns:a="http://schemas.openxmlformats.org/drawingml/2006/main">
              <a:ext uri="{FF2B5EF4-FFF2-40B4-BE49-F238E27FC236}">
                <a16:creationId xmlns:a16="http://schemas.microsoft.com/office/drawing/2014/main" id="{0AD6DE3B-5841-4382-B527-35B059297A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8">
            <a:extLst xmlns:a="http://schemas.openxmlformats.org/drawingml/2006/main">
              <a:ext uri="{FF2B5EF4-FFF2-40B4-BE49-F238E27FC236}">
                <a16:creationId xmlns:a16="http://schemas.microsoft.com/office/drawing/2014/main" id="{C67B4AA0-DDB3-4A1D-854C-FF975F5806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8">
            <a:extLst xmlns:a="http://schemas.openxmlformats.org/drawingml/2006/main">
              <a:ext uri="{FF2B5EF4-FFF2-40B4-BE49-F238E27FC236}">
                <a16:creationId xmlns:a16="http://schemas.microsoft.com/office/drawing/2014/main" id="{A0E4E66F-2569-45C5-A6CC-DA83B4356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9">
            <a:extLst xmlns:a="http://schemas.openxmlformats.org/drawingml/2006/main">
              <a:ext uri="{FF2B5EF4-FFF2-40B4-BE49-F238E27FC236}">
                <a16:creationId xmlns:a16="http://schemas.microsoft.com/office/drawing/2014/main" id="{D24D561C-84ED-4BAC-B9AD-5121ADCCC29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9">
            <a:extLst xmlns:a="http://schemas.openxmlformats.org/drawingml/2006/main">
              <a:ext uri="{FF2B5EF4-FFF2-40B4-BE49-F238E27FC236}">
                <a16:creationId xmlns:a16="http://schemas.microsoft.com/office/drawing/2014/main" id="{80D61C70-4DD6-4FF1-BC53-0DDFE9EAF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9">
            <a:extLst xmlns:a="http://schemas.openxmlformats.org/drawingml/2006/main">
              <a:ext uri="{FF2B5EF4-FFF2-40B4-BE49-F238E27FC236}">
                <a16:creationId xmlns:a16="http://schemas.microsoft.com/office/drawing/2014/main" id="{77409EF9-0AC5-407C-9F41-54272F5D45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20">
            <a:extLst xmlns:a="http://schemas.openxmlformats.org/drawingml/2006/main">
              <a:ext uri="{FF2B5EF4-FFF2-40B4-BE49-F238E27FC236}">
                <a16:creationId xmlns:a16="http://schemas.microsoft.com/office/drawing/2014/main" id="{787ADD87-F8A3-412A-B374-F62EF45F68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a8dbf96195492b" /><Relationship Type="http://schemas.openxmlformats.org/officeDocument/2006/relationships/slideLayout" Target="/ppt/slideLayouts/slideLayout1.xml" Id="R81322e8d0ce24969" /><Relationship Type="http://schemas.openxmlformats.org/officeDocument/2006/relationships/slideLayout" Target="/ppt/slideLayouts/slideLayout2.xml" Id="R67416fb11a94477f" /><Relationship Type="http://schemas.openxmlformats.org/officeDocument/2006/relationships/slideLayout" Target="/ppt/slideLayouts/slideLayout3.xml" Id="R1c981978412b4f5e" /><Relationship Type="http://schemas.openxmlformats.org/officeDocument/2006/relationships/slideLayout" Target="/ppt/slideLayouts/slideLayout4.xml" Id="R04ed90b310bc4df3" /><Relationship Type="http://schemas.openxmlformats.org/officeDocument/2006/relationships/slideLayout" Target="/ppt/slideLayouts/slideLayout5.xml" Id="Rc90f9d40bf5e4624" /><Relationship Type="http://schemas.openxmlformats.org/officeDocument/2006/relationships/slideLayout" Target="/ppt/slideLayouts/slideLayout6.xml" Id="R9e37d5fad9324eb2" /><Relationship Type="http://schemas.openxmlformats.org/officeDocument/2006/relationships/slideLayout" Target="/ppt/slideLayouts/slideLayout7.xml" Id="R2ebcc0373e3d4501" /><Relationship Type="http://schemas.openxmlformats.org/officeDocument/2006/relationships/slideLayout" Target="/ppt/slideLayouts/slideLayout8.xml" Id="Rf2dd186d058e4aa6" /><Relationship Type="http://schemas.openxmlformats.org/officeDocument/2006/relationships/slideLayout" Target="/ppt/slideLayouts/slideLayout9.xml" Id="R2f3bbe0bbc7a413c" /><Relationship Type="http://schemas.openxmlformats.org/officeDocument/2006/relationships/slideLayout" Target="/ppt/slideLayouts/slideLayout10.xml" Id="R24055840a6ff45f9" /><Relationship Type="http://schemas.openxmlformats.org/officeDocument/2006/relationships/slideLayout" Target="/ppt/slideLayouts/slideLayout11.xml" Id="R2d798033d40143f0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9">
            <a:extLst xmlns:a="http://schemas.openxmlformats.org/drawingml/2006/main">
              <a:ext uri="{FF2B5EF4-FFF2-40B4-BE49-F238E27FC236}">
                <a16:creationId xmlns:a16="http://schemas.microsoft.com/office/drawing/2014/main" id="{A516FE85-40E6-4988-BA0D-602BBAA34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9">
            <a:extLst xmlns:a="http://schemas.openxmlformats.org/drawingml/2006/main">
              <a:ext uri="{FF2B5EF4-FFF2-40B4-BE49-F238E27FC236}">
                <a16:creationId xmlns:a16="http://schemas.microsoft.com/office/drawing/2014/main" id="{1D953473-91F5-4B2B-9BCE-32C2C2FF8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marR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914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1371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9">
            <a:extLst xmlns:a="http://schemas.openxmlformats.org/drawingml/2006/main">
              <a:ext uri="{FF2B5EF4-FFF2-40B4-BE49-F238E27FC236}">
                <a16:creationId xmlns:a16="http://schemas.microsoft.com/office/drawing/2014/main" id="{1F2A89E9-F66D-4226-BBFF-CE34F9C9D1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22e8d0ce24969"/>
    <p:sldLayoutId xmlns:r="http://schemas.openxmlformats.org/officeDocument/2006/relationships" id="2147483650" r:id="R67416fb11a94477f"/>
    <p:sldLayoutId xmlns:r="http://schemas.openxmlformats.org/officeDocument/2006/relationships" id="2147483651" r:id="R1c981978412b4f5e"/>
    <p:sldLayoutId xmlns:r="http://schemas.openxmlformats.org/officeDocument/2006/relationships" id="2147483652" r:id="R04ed90b310bc4df3"/>
    <p:sldLayoutId xmlns:r="http://schemas.openxmlformats.org/officeDocument/2006/relationships" id="2147483653" r:id="Rc90f9d40bf5e4624"/>
    <p:sldLayoutId xmlns:r="http://schemas.openxmlformats.org/officeDocument/2006/relationships" id="2147483654" r:id="R9e37d5fad9324eb2"/>
    <p:sldLayoutId xmlns:r="http://schemas.openxmlformats.org/officeDocument/2006/relationships" id="2147483655" r:id="R2ebcc0373e3d4501"/>
    <p:sldLayoutId xmlns:r="http://schemas.openxmlformats.org/officeDocument/2006/relationships" id="2147483656" r:id="Rf2dd186d058e4aa6"/>
    <p:sldLayoutId xmlns:r="http://schemas.openxmlformats.org/officeDocument/2006/relationships" id="2147483657" r:id="R2f3bbe0bbc7a413c"/>
    <p:sldLayoutId xmlns:r="http://schemas.openxmlformats.org/officeDocument/2006/relationships" id="2147483658" r:id="R24055840a6ff45f9"/>
    <p:sldLayoutId xmlns:r="http://schemas.openxmlformats.org/officeDocument/2006/relationships" id="2147483659" r:id="R2d798033d40143f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28f5b03b14bea" /><Relationship Type="http://schemas.openxmlformats.org/officeDocument/2006/relationships/notesSlide" Target="/ppt/notesSlides/notesSlide1.xml" Id="R845ca7df50f841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d8945cd9bb48fa" /><Relationship Type="http://schemas.openxmlformats.org/officeDocument/2006/relationships/notesSlide" Target="/ppt/notesSlides/notesSlide2.xml" Id="Reb928a9a1725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f282ac9aae4698" /><Relationship Type="http://schemas.openxmlformats.org/officeDocument/2006/relationships/image" Target="/ppt/media/image.png" Id="R980b4ed9ec8f438c" /><Relationship Type="http://schemas.openxmlformats.org/officeDocument/2006/relationships/notesSlide" Target="/ppt/notesSlides/notesSlide3.xml" Id="Raa4900f4cb9147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db6ce1e0dc4f8a" /><Relationship Type="http://schemas.openxmlformats.org/officeDocument/2006/relationships/notesSlide" Target="/ppt/notesSlides/notesSlide4.xml" Id="Rcf2c63c46e0a44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4737b0109343d6" /><Relationship Type="http://schemas.openxmlformats.org/officeDocument/2006/relationships/image" Target="/ppt/media/image2.png" Id="Rc31725a7ab724adc" /><Relationship Type="http://schemas.openxmlformats.org/officeDocument/2006/relationships/notesSlide" Target="/ppt/notesSlides/notesSlide5.xml" Id="R1bc7e749177948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81b6ef102c4db2" /><Relationship Type="http://schemas.openxmlformats.org/officeDocument/2006/relationships/image" Target="/ppt/media/image3.png" Id="Ree757bb7c09c4173" /><Relationship Type="http://schemas.openxmlformats.org/officeDocument/2006/relationships/notesSlide" Target="/ppt/notesSlides/notesSlide6.xml" Id="Re56e62a73c38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a40b47ad8704f04" /><Relationship Type="http://schemas.openxmlformats.org/officeDocument/2006/relationships/image" Target="/ppt/media/image4.png" Id="Raab43519dda0446b" /><Relationship Type="http://schemas.openxmlformats.org/officeDocument/2006/relationships/image" Target="/ppt/media/image5.png" Id="R513799a475e0401d" /><Relationship Type="http://schemas.openxmlformats.org/officeDocument/2006/relationships/notesSlide" Target="/ppt/notesSlides/notesSlide7.xml" Id="Rd6c49055de604c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20fc1ee44740e6" /><Relationship Type="http://schemas.openxmlformats.org/officeDocument/2006/relationships/image" Target="/ppt/media/image6.png" Id="R27f2960be4614e9b" /><Relationship Type="http://schemas.openxmlformats.org/officeDocument/2006/relationships/notesSlide" Target="/ppt/notesSlides/notesSlide8.xml" Id="R32555578c25649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0e6ad24955472d" /><Relationship Type="http://schemas.openxmlformats.org/officeDocument/2006/relationships/image" Target="/ppt/media/image7.png" Id="Ra2da58f1eac3461e" /><Relationship Type="http://schemas.openxmlformats.org/officeDocument/2006/relationships/notesSlide" Target="/ppt/notesSlides/notesSlide9.xml" Id="Rab1a1620295b48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d70435ba8c34fa2" /><Relationship Type="http://schemas.openxmlformats.org/officeDocument/2006/relationships/image" Target="/ppt/media/image8.png" Id="Ra9222c2e96e9486c" /><Relationship Type="http://schemas.openxmlformats.org/officeDocument/2006/relationships/image" Target="/ppt/media/image9.png" Id="Rc1fd4caa80fc4948" /><Relationship Type="http://schemas.openxmlformats.org/officeDocument/2006/relationships/notesSlide" Target="/ppt/notesSlides/notesSlide10.xml" Id="R9e07d0acb9f14b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ff0a6d8ffa4906" /><Relationship Type="http://schemas.openxmlformats.org/officeDocument/2006/relationships/image" Target="/ppt/media/image10.png" Id="Rad0a0ee676a74df1" /><Relationship Type="http://schemas.openxmlformats.org/officeDocument/2006/relationships/notesSlide" Target="/ppt/notesSlides/notesSlide11.xml" Id="Rdb966026650a42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af0be4be904c43" /><Relationship Type="http://schemas.openxmlformats.org/officeDocument/2006/relationships/notesSlide" Target="/ppt/notesSlides/notesSlide12.xml" Id="R0d1ae873c28e4a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">
            <a:extLst xmlns:a="http://schemas.openxmlformats.org/drawingml/2006/main">
              <a:ext uri="{FF2B5EF4-FFF2-40B4-BE49-F238E27FC236}">
                <a16:creationId xmlns:a16="http://schemas.microsoft.com/office/drawing/2014/main" id="{23A04836-16ED-4E56-91D2-D9F806E5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9525" cmpd="sng">
            <a:solidFill>
              <a:srgbClr val="595959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Google Shape;55;p1">
            <a:extLst xmlns:a="http://schemas.openxmlformats.org/drawingml/2006/main">
              <a:ext uri="{FF2B5EF4-FFF2-40B4-BE49-F238E27FC236}">
                <a16:creationId xmlns:a16="http://schemas.microsoft.com/office/drawing/2014/main" id="{6C85B01F-18BB-4305-92D1-2A612FE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50" y="1851250"/>
            <a:ext cx="7983300" cy="89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rmAutofit fontScale="50947" lnSpcReduction="10000"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sz="5200" b="0" i="0" u="none" cap="none">
                <a:solidFill>
                  <a:srgbClr val="F3F3F3"/>
                </a:solidFill>
                <a:latin typeface="Montserrat"/>
                <a:ea typeface="Montserrat"/>
                <a:cs typeface="Montserrat"/>
              </a:rPr>
              <a:t>BottleNeck — décisions ventes, stocks &amp; marge</a:t>
            </a:r>
            <a:endParaRPr sz="5200" b="0" i="0" u="none" cap="none">
              <a:solidFill>
                <a:srgbClr val="F3F3F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56" name="Google Shape;56;p1">
            <a:extLst xmlns:a="http://schemas.openxmlformats.org/drawingml/2006/main">
              <a:ext uri="{FF2B5EF4-FFF2-40B4-BE49-F238E27FC236}">
                <a16:creationId xmlns:a16="http://schemas.microsoft.com/office/drawing/2014/main" id="{15E400E4-32AA-40DC-8107-E46D8CD4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964" y="3582148"/>
            <a:ext cx="3807680" cy="53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Kevin Henkes</a:t>
            </a:r>
          </a:p>
        </p:txBody>
      </p:sp>
      <p:sp>
        <p:nvSpPr>
          <p:cNvPr id="57" name="Google Shape;57;p1">
            <a:extLst xmlns:a="http://schemas.openxmlformats.org/drawingml/2006/main">
              <a:ext uri="{FF2B5EF4-FFF2-40B4-BE49-F238E27FC236}">
                <a16:creationId xmlns:a16="http://schemas.microsoft.com/office/drawing/2014/main" id="{BBC34D89-DF31-426B-9032-173ABB3B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964" y="3975103"/>
            <a:ext cx="3807680" cy="53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Ventes d’octobre · Stock au 31 octobre</a:t>
            </a:r>
          </a:p>
        </p:txBody>
      </p:sp>
      <p:sp>
        <p:nvSpPr>
          <p:cNvPr id="58" name="Google Shape;58;p1">
            <a:extLst xmlns:a="http://schemas.openxmlformats.org/drawingml/2006/main">
              <a:ext uri="{FF2B5EF4-FFF2-40B4-BE49-F238E27FC236}">
                <a16:creationId xmlns:a16="http://schemas.microsoft.com/office/drawing/2014/main" id="{7078213F-B024-45FA-82D6-4C6CD4F9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8964" y="4368058"/>
            <a:ext cx="3807680" cy="53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08/08/2026</a:t>
            </a:r>
          </a:p>
        </p:txBody>
      </p:sp>
    </p:spTree>
    <p:extLst>
      <p:ext uri="{BB962C8B-B14F-4D97-AF65-F5344CB8AC3E}">
        <p14:creationId xmlns:p14="http://schemas.microsoft.com/office/powerpoint/2010/main" val="15327940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g13f9e8f1567_0_0">
            <a:extLst xmlns:a="http://schemas.openxmlformats.org/drawingml/2006/main">
              <a:ext uri="{FF2B5EF4-FFF2-40B4-BE49-F238E27FC236}">
                <a16:creationId xmlns:a16="http://schemas.microsoft.com/office/drawing/2014/main" id="{CF16D420-20FD-4222-B1D2-B06A18E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9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g13f9e8f1567_0_0">
            <a:extLst xmlns:a="http://schemas.openxmlformats.org/drawingml/2006/main">
              <a:ext uri="{FF2B5EF4-FFF2-40B4-BE49-F238E27FC236}">
                <a16:creationId xmlns:a16="http://schemas.microsoft.com/office/drawing/2014/main" id="{B8E96EAB-6E7A-48B7-803B-5CC6A875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25" y="337250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sz="2500">
                <a:solidFill>
                  <a:srgbClr val="F3F3F3"/>
                </a:solidFill>
                <a:latin typeface="Montserrat"/>
                <a:ea typeface="Montserrat"/>
                <a:cs typeface="Montserrat"/>
              </a:rPr>
              <a:t>Trois arbitrages pour protéger cash et marge</a:t>
            </a:r>
            <a:endParaRPr/>
          </a:p>
        </p:txBody>
      </p:sp>
      <p:sp>
        <p:nvSpPr>
          <p:cNvPr id="97" name="Google Shape;97;g13f9e8f1567_0_0">
            <a:extLst xmlns:a="http://schemas.openxmlformats.org/drawingml/2006/main">
              <a:ext uri="{FF2B5EF4-FFF2-40B4-BE49-F238E27FC236}">
                <a16:creationId xmlns:a16="http://schemas.microsoft.com/office/drawing/2014/main" id="{A796B365-DC90-44EC-97EB-574D4F12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75" y="993350"/>
            <a:ext cx="452700" cy="5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g13f9e8f1567_0_0">
            <a:extLst xmlns:a="http://schemas.openxmlformats.org/drawingml/2006/main">
              <a:ext uri="{FF2B5EF4-FFF2-40B4-BE49-F238E27FC236}">
                <a16:creationId xmlns:a16="http://schemas.microsoft.com/office/drawing/2014/main" id="{62836F5E-2184-4A55-B991-18EBB5FF96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274" y="1528600"/>
            <a:ext cx="83160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sz="1800"/>
              <a:t>1. Fiabiliser les clés Web et statuer sur les erreurs certaines.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>
              <a:buNone/>
              <a:defRPr sz="1800"/>
            </a:pPr>
            <a:r>
              <a:rPr sz="1800"/>
              <a:t>2. Revoir 24 surstocks et 14 959 € sans vente observée.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3. Confirmer le coût 4355 avant toute action prix ou achat.</a:t>
            </a:r>
          </a:p>
        </p:txBody>
      </p:sp>
    </p:spTree>
    <p:extLst>
      <p:ext uri="{BB962C8B-B14F-4D97-AF65-F5344CB8AC3E}">
        <p14:creationId xmlns:p14="http://schemas.microsoft.com/office/powerpoint/2010/main" val="8144840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E6ECEE-3FD1-4D24-8D52-6AB007C21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714 produits rapprochés en cardinalité 1–1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11DC70-C9A2-4F71-9441-B0B5A0865D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825 ERP → 734 identifiants Web → 714 produits appariés.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111 références ERP hors périmètre Web : 91 sans ID, 20 liens absents.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Clés non nulles uniques ; cardinalités un-à-un contrôlées.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b4ed9ec8f43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143000" y="2381250"/>
            <a:ext cx="685800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065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D97DD6-DDF0-4EF4-94B5-702B2DDE5F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Octobre en quatre chiffres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4B28AE-F743-497B-BE2E-64650E6812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143 680 € de CA TTC | 5 751 unités vendues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44 661 € de marge brute HT | 37,3 % de taux de marque pondéré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277 306 € de stock apparié au coût HT, brut signé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Périmètre : octobre / 31 octobre ; année d’extraction à confirmer.</a:t>
            </a:r>
          </a:p>
        </p:txBody>
      </p:sp>
    </p:spTree>
    <p:extLst>
      <p:ext uri="{BB962C8B-B14F-4D97-AF65-F5344CB8AC3E}">
        <p14:creationId xmlns:p14="http://schemas.microsoft.com/office/powerpoint/2010/main" val="814533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3067D8-2D52-47D3-8D6A-210610A726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Top 10 : seulement 6,9 % du CA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AA486B-E94B-4D91-B28D-3BE2369153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La meilleure référence pèse 1,7 % du CA.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La performance dépend d’un catalogue large, pas de quelques best-sellers.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725a7ab724a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57250" y="1952625"/>
            <a:ext cx="7429500" cy="290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218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B52FCE-1500-490B-BF0B-BBA07404F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Atteindre 80 % du CA exige 435 références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C67DF43-7A85-4C7B-8576-288D9EC671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Soit 60,9 % du catalogue rapproché.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Pas de Pareto 20/80 : prioriser avec marge et stock, pas le CA seul.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57bb7c09c41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47750" y="2095500"/>
            <a:ext cx="704850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486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63A07F-374C-411B-A593-D8DC22A5F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33 prix atypiques sont à revoir, pas à corriger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0C1B46-E606-4A2C-8FA3-4E44AA5982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Test MAD : rappel 100 %, alertes 4,6 %, Jaccard 0,91.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Les 3 prix négatifs restent des erreurs certaines distinctes.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43519dda044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33375" y="2952750"/>
            <a:ext cx="3952875" cy="19526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799a475e040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762500" y="1381125"/>
            <a:ext cx="3714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492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C12B43-33E9-46AF-8E14-C7C0B89A3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95 012 € de stock à plus de 12 mois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7C7970D-FF1A-4BBD-89B0-0FD0A91DEB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24 références ; 34,3 % de la valeur au coût du stock apparié.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22 références vendues terminent à stock nul. Scénario, pas prévision.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2960be4614e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1095375" y="2095500"/>
            <a:ext cx="6953250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055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93BD07-04B8-4A11-8381-F8CCAF340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14 959 € de stock n’ont aucune vente observée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169780-E1CA-46E6-88D1-95A7DB6C0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3 références concentrent ce risque au coût d’achat HT.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Confirmer disponibilité Web, coût et statut avant déstockage.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a58f1eac346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66750" y="2524125"/>
            <a:ext cx="781050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102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63A07F-374C-411B-A593-D8DC22A5F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marge est saine, sauf un coût à confirmer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10C1B46-E606-4A2C-8FA3-4E44AA5982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44 661 € HT de marge brute ; taux de marque pondéré 37,3 %.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Référence 4355 : coût 77,48 € vs vente 10,54 € HT, zéro vente.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22c2e96e948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33375" y="2905125"/>
            <a:ext cx="4000500" cy="200025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d4caa80fc49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762500" y="1381125"/>
            <a:ext cx="3714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3492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67515A-BC83-41F5-8E42-D1AB66B89C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/>
              <a:t>Prix–volumes : association, pas causalité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2A233F-AD1D-4346-B0D5-F8BAF7348D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/>
            </a:pPr>
            <a:r>
              <a:rPr sz="1800"/>
              <a:t>Spearman ρ = −0,70 sur octobre.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Tester prix et promotion par segment avant toute baisse générale.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a0ee676a74df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52500" y="2095500"/>
            <a:ext cx="7239000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044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g13f9e8f1567_0_0">
            <a:extLst xmlns:a="http://schemas.openxmlformats.org/drawingml/2006/main">
              <a:ext uri="{FF2B5EF4-FFF2-40B4-BE49-F238E27FC236}">
                <a16:creationId xmlns:a16="http://schemas.microsoft.com/office/drawing/2014/main" id="{CF16D420-20FD-4222-B1D2-B06A18E7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9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Google Shape;96;g13f9e8f1567_0_0">
            <a:extLst xmlns:a="http://schemas.openxmlformats.org/drawingml/2006/main">
              <a:ext uri="{FF2B5EF4-FFF2-40B4-BE49-F238E27FC236}">
                <a16:creationId xmlns:a16="http://schemas.microsoft.com/office/drawing/2014/main" id="{B8E96EAB-6E7A-48B7-803B-5CC6A875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25" y="337250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sz="2500">
                <a:solidFill>
                  <a:srgbClr val="F3F3F3"/>
                </a:solidFill>
                <a:latin typeface="Montserrat"/>
                <a:ea typeface="Montserrat"/>
                <a:cs typeface="Montserrat"/>
              </a:rPr>
              <a:t>Décisions, responsables et échéances</a:t>
            </a:r>
            <a:endParaRPr/>
          </a:p>
        </p:txBody>
      </p:sp>
      <p:sp>
        <p:nvSpPr>
          <p:cNvPr id="97" name="Google Shape;97;g13f9e8f1567_0_0">
            <a:extLst xmlns:a="http://schemas.openxmlformats.org/drawingml/2006/main">
              <a:ext uri="{FF2B5EF4-FFF2-40B4-BE49-F238E27FC236}">
                <a16:creationId xmlns:a16="http://schemas.microsoft.com/office/drawing/2014/main" id="{A796B365-DC90-44EC-97EB-574D4F12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75" y="993350"/>
            <a:ext cx="452700" cy="5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Google Shape;98;g13f9e8f1567_0_0">
            <a:extLst xmlns:a="http://schemas.openxmlformats.org/drawingml/2006/main">
              <a:ext uri="{FF2B5EF4-FFF2-40B4-BE49-F238E27FC236}">
                <a16:creationId xmlns:a16="http://schemas.microsoft.com/office/drawing/2014/main" id="{62836F5E-2184-4A55-B991-18EBB5FF96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274" y="1528600"/>
            <a:ext cx="83160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pPr>
            <a:r>
              <a:rPr sz="1800"/>
              <a:t>D+7 · Data owner — statuer sur les erreurs certaines et mappings critiques.</a:t>
            </a:r>
            <a:endParaRPr i="1">
              <a:solidFill>
                <a:srgbClr val="999999"/>
              </a:solidFill>
              <a:latin typeface="Montserrat"/>
              <a:ea typeface="Montserrat"/>
              <a:cs typeface="Montserrat"/>
            </a:endParaRPr>
          </a:p>
          <a:p xmlns:a="http://schemas.openxmlformats.org/drawingml/2006/main">
            <a:pPr>
              <a:buNone/>
              <a:defRPr sz="1800"/>
            </a:pPr>
            <a:r>
              <a:rPr sz="1800"/>
              <a:t>D+14 · Achats — revoir 24 surstocks et confirmer le coût 4355.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D+14 · E-commerce — traiter 22 stocks nuls et statuts croisés.</a:t>
            </a:r>
          </a:p>
          <a:p xmlns:a="http://schemas.openxmlformats.org/drawingml/2006/main">
            <a:pPr>
              <a:buNone/>
              <a:defRPr sz="1800"/>
            </a:pPr>
            <a:r>
              <a:rPr sz="1800"/>
              <a:t>Mensuel · Finance/Data — republier les KPI et le registre qualité.</a:t>
            </a:r>
          </a:p>
        </p:txBody>
      </p:sp>
    </p:spTree>
    <p:extLst>
      <p:ext uri="{BB962C8B-B14F-4D97-AF65-F5344CB8AC3E}">
        <p14:creationId xmlns:p14="http://schemas.microsoft.com/office/powerpoint/2010/main" val="81448408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2026-08-08T14:29:54.5700000Z</dcterms:created>
  <dcterms:modified xsi:type="dcterms:W3CDTF">2026-08-08T14:29:54.5700000Z</dcterms:modified>
</coreProperties>
</file>