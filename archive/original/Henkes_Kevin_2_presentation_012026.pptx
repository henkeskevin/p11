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Montserrat" panose="00000500000000000000" pitchFamily="50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72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Bottleneck – Analyse ventes, stocks &amp; marge</a:t>
            </a:r>
            <a:endParaRPr sz="52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>
                <a:solidFill>
                  <a:schemeClr val="bg1"/>
                </a:solidFill>
              </a:rPr>
              <a:t>Kevin</a:t>
            </a: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r>
              <a:rPr>
                <a:solidFill>
                  <a:schemeClr val="bg1"/>
                </a:solidFill>
              </a:rPr>
              <a:t>Formation Business Intelligence / Data Analyst</a:t>
            </a: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29/12/2025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  <a:defRPr sz="1800"/>
            </a:pPr>
            <a:r>
              <a:rPr sz="1800"/>
              <a:t>Données sources : ERP (825 lignes), WEB (1513 lignes), Liaison (825 lignes).</a:t>
            </a:r>
            <a:endParaRPr i="1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defRPr sz="1800"/>
            </a:pPr>
            <a:r>
              <a:rPr sz="1800"/>
              <a:t>Jeu final consolidé : 714 articles (1 ligne = 1 produit).</a:t>
            </a:r>
          </a:p>
          <a:p>
            <a:pPr>
              <a:defRPr sz="1800"/>
            </a:pPr>
            <a:r>
              <a:rPr sz="1800"/>
              <a:t>Nettoyages principaux : valeurs négatives dans l’ERP (stock&lt;0: 2, prix&lt;0: 3), SKU manquants (85) et doublons (798) dans le WEB.</a:t>
            </a:r>
          </a:p>
          <a:p>
            <a:pPr>
              <a:defRPr sz="1800"/>
            </a:pPr>
            <a:r>
              <a:rPr sz="1800"/>
              <a:t>Objectif : produire des indicateurs (CA, rotation, mois de stock, marge) et identifier des leviers d’action.</a:t>
            </a: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  <a:defRPr sz="1800"/>
            </a:pPr>
            <a:r>
              <a:rPr sz="1800"/>
              <a:t>Clés utilisées : product_id (ERP &amp; liaison) et id_web (= SKU) côté WEB.</a:t>
            </a:r>
            <a:endParaRPr i="1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defRPr sz="1800"/>
            </a:pPr>
            <a:r>
              <a:rPr sz="1800"/>
              <a:t>Attributs clés : price, purchase_price, stock_quantity, total_sales, stock_status, product_type.</a:t>
            </a:r>
          </a:p>
          <a:p>
            <a:pPr>
              <a:defRPr sz="1800"/>
            </a:pPr>
            <a:r>
              <a:rPr sz="1800"/>
              <a:t>Vigilances : doublons SKU côté WEB (plusieurs lignes pour un même produit), valeurs extrêmes (prix/stock), cohérence prix d’achat vs prix de vente.</a:t>
            </a:r>
          </a:p>
          <a:p>
            <a:pPr>
              <a:defRPr sz="1800"/>
            </a:pPr>
            <a:r>
              <a:rPr sz="1800"/>
              <a:t>Consolidation : ERP ⟶ (jointure) liaison ⟶ (jointure) WEB ⟶ dataset final + indicateurs calculés.</a:t>
            </a: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  <a:defRPr sz="1800"/>
            </a:pPr>
            <a:r>
              <a:rPr sz="1800" dirty="0" err="1"/>
              <a:t>Statistiques</a:t>
            </a:r>
            <a:r>
              <a:rPr sz="1800" dirty="0"/>
              <a:t> descriptives : min / max, quartiles.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defRPr sz="1800"/>
            </a:pPr>
            <a:r>
              <a:rPr sz="1800" dirty="0" err="1"/>
              <a:t>Détection</a:t>
            </a:r>
            <a:r>
              <a:rPr sz="1800" dirty="0"/>
              <a:t> </a:t>
            </a:r>
            <a:r>
              <a:rPr sz="1800" dirty="0" err="1"/>
              <a:t>d’outliers</a:t>
            </a:r>
            <a:r>
              <a:rPr sz="1800" dirty="0"/>
              <a:t> : boxplot et </a:t>
            </a:r>
            <a:r>
              <a:rPr sz="1800" dirty="0" err="1"/>
              <a:t>contrôle</a:t>
            </a:r>
            <a:r>
              <a:rPr sz="1800" dirty="0"/>
              <a:t> des </a:t>
            </a:r>
            <a:r>
              <a:rPr sz="1800" dirty="0" err="1"/>
              <a:t>valeurs</a:t>
            </a:r>
            <a:r>
              <a:rPr sz="1800" dirty="0"/>
              <a:t> </a:t>
            </a:r>
            <a:r>
              <a:rPr sz="1800" dirty="0" err="1"/>
              <a:t>aberrantes</a:t>
            </a:r>
            <a:r>
              <a:rPr sz="1800" dirty="0"/>
              <a:t>.</a:t>
            </a:r>
          </a:p>
          <a:p>
            <a:pPr>
              <a:defRPr sz="1800"/>
            </a:pPr>
            <a:r>
              <a:rPr sz="1800" dirty="0"/>
              <a:t>Prix (TTC) : min 5.20 € | </a:t>
            </a:r>
            <a:r>
              <a:rPr sz="1800" dirty="0" err="1"/>
              <a:t>médiane</a:t>
            </a:r>
            <a:r>
              <a:rPr sz="1800" dirty="0"/>
              <a:t> 23.45 € | </a:t>
            </a:r>
            <a:r>
              <a:rPr sz="1800" dirty="0" err="1"/>
              <a:t>moyenne</a:t>
            </a:r>
            <a:r>
              <a:rPr sz="1800" dirty="0"/>
              <a:t> 32.33 € | max 225.00 €.</a:t>
            </a:r>
          </a:p>
          <a:p>
            <a:pPr>
              <a:defRPr sz="1800"/>
            </a:pPr>
            <a:r>
              <a:rPr sz="1800" dirty="0" err="1"/>
              <a:t>Limites</a:t>
            </a:r>
            <a:r>
              <a:rPr sz="1800" dirty="0"/>
              <a:t> : </a:t>
            </a:r>
            <a:r>
              <a:rPr sz="1800" dirty="0" err="1"/>
              <a:t>quelques</a:t>
            </a:r>
            <a:r>
              <a:rPr sz="1800" dirty="0"/>
              <a:t> </a:t>
            </a:r>
            <a:r>
              <a:rPr sz="1800" dirty="0" err="1"/>
              <a:t>produits</a:t>
            </a:r>
            <a:r>
              <a:rPr sz="1800" dirty="0"/>
              <a:t> très </a:t>
            </a:r>
            <a:r>
              <a:rPr sz="1800" dirty="0" err="1"/>
              <a:t>chers</a:t>
            </a:r>
            <a:r>
              <a:rPr sz="1800" dirty="0"/>
              <a:t> </a:t>
            </a:r>
            <a:r>
              <a:rPr sz="1800" dirty="0" err="1"/>
              <a:t>tirent</a:t>
            </a:r>
            <a:r>
              <a:rPr sz="1800" dirty="0"/>
              <a:t> la </a:t>
            </a:r>
            <a:r>
              <a:rPr sz="1800" dirty="0" err="1"/>
              <a:t>moyenne</a:t>
            </a:r>
            <a:r>
              <a:rPr sz="1800" dirty="0"/>
              <a:t> vers le haut.</a:t>
            </a: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  <a:defRPr sz="1800"/>
            </a:pPr>
            <a:r>
              <a:rPr sz="1800"/>
              <a:t>CA total (dataset) : 143,680 € | Quantités vendues : 5,751.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defRPr sz="1800"/>
            </a:pPr>
            <a:r>
              <a:rPr sz="1800"/>
              <a:t>Concentration du CA : Top 20 articles = 11.0% du CA ; Top 100 = 31.8%.</a:t>
            </a:r>
          </a:p>
          <a:p>
            <a:pPr>
              <a:defRPr sz="1800"/>
            </a:pPr>
            <a:r>
              <a:rPr sz="1800"/>
              <a:t>Corrélations (extrait) : ventes vs prix = -0.52 ; stock vs ventes = 0.44.</a:t>
            </a:r>
          </a:p>
          <a:p>
            <a:pPr>
              <a:defRPr sz="1800"/>
            </a:pPr>
            <a:r>
              <a:rPr sz="1800"/>
              <a:t>Stocks : estimation de la rotation mensuelle et du nombre de mois de stock.</a:t>
            </a:r>
          </a:p>
          <a:p>
            <a:pPr>
              <a:defRPr sz="1800"/>
            </a:pPr>
            <a:r>
              <a:rPr sz="1800"/>
              <a:t>Marge : calcul d’un taux de marge (attention aux anomalies de prix d’achat).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pPr>
            <a:r>
              <a:rPr sz="1800"/>
              <a:t>Prioriser les actions sur les articles à surstock : 24 références avec &gt; 12 mois de stock estimés.</a:t>
            </a:r>
            <a:endParaRPr i="1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defRPr sz="1800"/>
            </a:pPr>
            <a:r>
              <a:rPr sz="1800"/>
              <a:t>Traiter les « deadstocks » : 3 articles en stock avec ventes = 0 (≈ 14,959 € immobilisés).</a:t>
            </a:r>
          </a:p>
          <a:p>
            <a:pPr>
              <a:defRPr sz="1800"/>
            </a:pPr>
            <a:r>
              <a:rPr sz="1800"/>
              <a:t>Vérifier les anomalies de marge (prix d’achat incohérent, unités, erreur de saisie).</a:t>
            </a:r>
          </a:p>
          <a:p>
            <a:pPr>
              <a:defRPr sz="1800"/>
            </a:pPr>
            <a:r>
              <a:rPr sz="1800"/>
              <a:t>Optimiser : ajustements de prix, mises en avant marketing, déstockage ciblé.</a:t>
            </a:r>
          </a:p>
          <a:p>
            <a:pPr>
              <a:defRPr sz="1800"/>
            </a:pPr>
            <a:r>
              <a:rPr sz="1800"/>
              <a:t>Améliorer la donnée : règles de contrôle (prix&gt;0, stock&gt;=0, SKU unique).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  <a:defRPr sz="1800"/>
            </a:pPr>
            <a:r>
              <a:rPr sz="1800"/>
              <a:t>Compétences : nettoyage (valeurs manquantes, doublons), jointures multi-sources, création d’indicateurs (CA, rotation, marge).</a:t>
            </a:r>
            <a:endParaRPr i="1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defRPr sz="1800"/>
            </a:pPr>
            <a:r>
              <a:rPr sz="1800"/>
              <a:t>Ce qui a bien marché : structuration du pipeline (ERP → liaison → WEB) et contrôles de cohérence.</a:t>
            </a:r>
          </a:p>
          <a:p>
            <a:pPr>
              <a:defRPr sz="1800"/>
            </a:pPr>
            <a:r>
              <a:rPr sz="1800"/>
              <a:t>Le plus difficile : gérer les doublons SKU côté WEB et les incohérences prix achat/vente.</a:t>
            </a:r>
          </a:p>
          <a:p>
            <a:pPr>
              <a:defRPr sz="1800"/>
            </a:pPr>
            <a:r>
              <a:rPr sz="1800"/>
              <a:t>À renforcer : automatiser les tests qualité de données + enrichir l’analyse (segmentation, saisonnalité).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Synthèse (résultats clés)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/>
            </a:pPr>
            <a:r>
              <a:rPr sz="1800"/>
              <a:t>714 articles analysés | CA total ≈ 143,680 € | Quantités vendues = 5,751.</a:t>
            </a:r>
          </a:p>
          <a:p>
            <a:pPr>
              <a:defRPr sz="1800"/>
            </a:pPr>
            <a:r>
              <a:rPr sz="1800"/>
              <a:t>Prix : médiane 23.45 € (moyenne 32.33 €) – présence d’outliers.</a:t>
            </a:r>
          </a:p>
          <a:p>
            <a:pPr>
              <a:defRPr sz="1800"/>
            </a:pPr>
            <a:r>
              <a:rPr sz="1800"/>
              <a:t>Marge moyenne estimée : 36.9%.</a:t>
            </a:r>
          </a:p>
          <a:p>
            <a:pPr>
              <a:defRPr sz="1800"/>
            </a:pPr>
            <a:r>
              <a:rPr sz="1800"/>
              <a:t>CA très « long tail » : Top 20 = 11.0% du CA ; Top 100 = 31.8%.</a:t>
            </a:r>
          </a:p>
          <a:p>
            <a:pPr>
              <a:defRPr sz="1800"/>
            </a:pPr>
            <a:r>
              <a:rPr sz="1800"/>
              <a:t>Enjeux business : surstocks à résorber + contrôle de cohérence prix achat/vente.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Datasets – aperçu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/>
            </a:pPr>
            <a:r>
              <a:rPr sz="1800"/>
              <a:t>ERP : référentiel produits, prix, stock, prix d’achat.</a:t>
            </a:r>
          </a:p>
          <a:p>
            <a:pPr>
              <a:defRPr sz="1800"/>
            </a:pPr>
            <a:r>
              <a:rPr sz="1800"/>
              <a:t>WEB : ventes et attributs e-commerce (SKU, type produit, etc.).</a:t>
            </a:r>
          </a:p>
          <a:p>
            <a:pPr>
              <a:defRPr sz="1800"/>
            </a:pPr>
            <a:r>
              <a:rPr sz="1800"/>
              <a:t>Liaison : table de correspondance product_id ↔ id_web (SKU).</a:t>
            </a:r>
          </a:p>
        </p:txBody>
      </p:sp>
      <p:pic>
        <p:nvPicPr>
          <p:cNvPr id="4" name="Picture 3" descr="dataset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60675"/>
            <a:ext cx="7863840" cy="18199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Fusion / consolidation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/>
            </a:pPr>
            <a:r>
              <a:rPr sz="1800"/>
              <a:t>Jointure ERP ↔ liaison sur product_id.</a:t>
            </a:r>
          </a:p>
          <a:p>
            <a:pPr>
              <a:defRPr sz="1800"/>
            </a:pPr>
            <a:r>
              <a:rPr sz="1800"/>
              <a:t>Jointure résultat ↔ WEB sur id_web (SKU).</a:t>
            </a:r>
          </a:p>
          <a:p>
            <a:pPr>
              <a:defRPr sz="1800"/>
            </a:pPr>
            <a:r>
              <a:rPr sz="1800"/>
              <a:t>Filtrage des lignes « matchées » pour obtenir le dataset exploitable.</a:t>
            </a:r>
          </a:p>
        </p:txBody>
      </p:sp>
      <p:pic>
        <p:nvPicPr>
          <p:cNvPr id="4" name="Picture 3" descr="merg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210" y="2395228"/>
            <a:ext cx="6890710" cy="27158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univariée – Prix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/>
            </a:pPr>
            <a:r>
              <a:rPr sz="1800"/>
              <a:t>Histogramme + boxplot pour visualiser la dispersion.</a:t>
            </a:r>
          </a:p>
          <a:p>
            <a:pPr>
              <a:defRPr sz="1800"/>
            </a:pPr>
            <a:r>
              <a:rPr sz="1800"/>
              <a:t>Outliers : quelques produits très haut de gamme.</a:t>
            </a:r>
          </a:p>
          <a:p>
            <a:pPr>
              <a:defRPr sz="1800"/>
            </a:pPr>
            <a:r>
              <a:rPr sz="1800"/>
              <a:t>Prix médian : 23.45 €.</a:t>
            </a:r>
          </a:p>
        </p:txBody>
      </p:sp>
      <p:pic>
        <p:nvPicPr>
          <p:cNvPr id="5" name="Picture 4" descr="pric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92" y="2978119"/>
            <a:ext cx="4023360" cy="2233219"/>
          </a:xfrm>
          <a:prstGeom prst="rect">
            <a:avLst/>
          </a:prstGeom>
        </p:spPr>
      </p:pic>
      <p:pic>
        <p:nvPicPr>
          <p:cNvPr id="6" name="Picture 5" descr="price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44519"/>
            <a:ext cx="3749039" cy="24718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Chiffre d’affaires – Top 20 articles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/>
            </a:pPr>
            <a:r>
              <a:rPr sz="1800"/>
              <a:t>Objectif : identifier les références qui tirent le CA.</a:t>
            </a:r>
          </a:p>
          <a:p>
            <a:pPr>
              <a:defRPr sz="1800"/>
            </a:pPr>
            <a:r>
              <a:rPr sz="1800"/>
              <a:t>Lecture : très forte variabilité (quelques produits à très fort CA).</a:t>
            </a:r>
          </a:p>
        </p:txBody>
      </p:sp>
      <p:pic>
        <p:nvPicPr>
          <p:cNvPr id="4" name="Picture 3" descr="top20_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7863840" cy="38882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Chiffre d’affaires – Pareto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/>
            </a:pPr>
            <a:r>
              <a:rPr sz="1800" dirty="0"/>
              <a:t>La </a:t>
            </a:r>
            <a:r>
              <a:rPr sz="1800" dirty="0" err="1"/>
              <a:t>courbe</a:t>
            </a:r>
            <a:r>
              <a:rPr sz="1800" dirty="0"/>
              <a:t> montre la part de CA </a:t>
            </a:r>
            <a:r>
              <a:rPr sz="1800" dirty="0" err="1"/>
              <a:t>cumulée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</a:t>
            </a:r>
            <a:r>
              <a:rPr sz="1800" dirty="0" err="1"/>
              <a:t>triant</a:t>
            </a:r>
            <a:r>
              <a:rPr sz="1800" dirty="0"/>
              <a:t> les </a:t>
            </a:r>
            <a:r>
              <a:rPr sz="1800" dirty="0" err="1"/>
              <a:t>produits</a:t>
            </a:r>
            <a:r>
              <a:rPr sz="1800" dirty="0"/>
              <a:t> par CA </a:t>
            </a:r>
            <a:r>
              <a:rPr sz="1800" dirty="0" err="1"/>
              <a:t>décroissant</a:t>
            </a:r>
            <a:r>
              <a:rPr sz="1800" dirty="0"/>
              <a:t>.</a:t>
            </a:r>
          </a:p>
          <a:p>
            <a:pPr>
              <a:defRPr sz="1800"/>
            </a:pPr>
            <a:r>
              <a:rPr sz="1800" dirty="0"/>
              <a:t>Constat : distribution très </a:t>
            </a:r>
            <a:r>
              <a:rPr sz="1800" dirty="0" err="1"/>
              <a:t>étalée</a:t>
            </a:r>
            <a:r>
              <a:rPr sz="1800" dirty="0"/>
              <a:t> (pas de « 20/80 » strict).</a:t>
            </a:r>
          </a:p>
        </p:txBody>
      </p:sp>
      <p:pic>
        <p:nvPicPr>
          <p:cNvPr id="4" name="Picture 3" descr="pareto_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766" y="2329364"/>
            <a:ext cx="7292154" cy="40522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Corrélations (prix, ventes, stock, marge)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/>
            </a:pPr>
            <a:r>
              <a:rPr sz="1800"/>
              <a:t>Ventes vs prix : -0.52 (tendance : plus le prix augmente, moins on vend en volume).</a:t>
            </a:r>
          </a:p>
          <a:p>
            <a:pPr>
              <a:defRPr sz="1800"/>
            </a:pPr>
            <a:r>
              <a:rPr sz="1800"/>
              <a:t>Stock vs ventes : 0.44 (modéré).</a:t>
            </a:r>
          </a:p>
          <a:p>
            <a:pPr>
              <a:defRPr sz="1800"/>
            </a:pPr>
            <a:r>
              <a:rPr sz="1800"/>
              <a:t>La marge est globalement peu corrélée au prix et aux ventes dans ce dataset.</a:t>
            </a:r>
          </a:p>
        </p:txBody>
      </p:sp>
      <p:pic>
        <p:nvPicPr>
          <p:cNvPr id="4" name="Picture 3" descr="co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976" y="2669982"/>
            <a:ext cx="2906006" cy="24735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Stocks &amp; rotation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/>
            </a:pPr>
            <a:r>
              <a:rPr sz="1800"/>
              <a:t>Estimation : rotation_mensuelle = total_sales / 12 ; mois_de_stock = stock / rotation.</a:t>
            </a:r>
          </a:p>
          <a:p>
            <a:pPr>
              <a:defRPr sz="1800"/>
            </a:pPr>
            <a:r>
              <a:rPr sz="1800"/>
              <a:t>Surstocks : 24 références avec &gt;12 mois de stock.</a:t>
            </a:r>
          </a:p>
          <a:p>
            <a:pPr>
              <a:defRPr sz="1800"/>
            </a:pPr>
            <a:r>
              <a:rPr sz="1800"/>
              <a:t>À surveiller : articles avec rotation faible et valorisation stock élevée.</a:t>
            </a:r>
          </a:p>
        </p:txBody>
      </p:sp>
      <p:pic>
        <p:nvPicPr>
          <p:cNvPr id="4" name="Picture 3" descr="mois_stock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923" y="2813138"/>
            <a:ext cx="4244153" cy="23557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Stocks – cas particuliers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/>
            </a:pPr>
            <a:r>
              <a:rPr sz="1800"/>
              <a:t>Articles en stock mais ventes = 0 : potentiels produits non référencés, erreur de tracking, ou invendus.</a:t>
            </a:r>
          </a:p>
          <a:p>
            <a:pPr>
              <a:defRPr sz="1800"/>
            </a:pPr>
            <a:r>
              <a:rPr sz="1800"/>
              <a:t>Action : vérifier la disponibilité sur le site et la qualité du mapping SKU.</a:t>
            </a:r>
          </a:p>
        </p:txBody>
      </p:sp>
      <p:pic>
        <p:nvPicPr>
          <p:cNvPr id="4" name="Picture 3" descr="deadstock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63" y="2948382"/>
            <a:ext cx="7863840" cy="15417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Marge – distribution &amp; anomalies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/>
            </a:pPr>
            <a:r>
              <a:rPr sz="1800"/>
              <a:t>Marge moyenne estimée : 36.9%.</a:t>
            </a:r>
          </a:p>
          <a:p>
            <a:pPr>
              <a:defRPr sz="1800"/>
            </a:pPr>
            <a:r>
              <a:rPr sz="1800"/>
              <a:t>Attention : la marge dépend de la fiabilité du prix d’achat.</a:t>
            </a:r>
          </a:p>
          <a:p>
            <a:pPr>
              <a:defRPr sz="1800"/>
            </a:pPr>
            <a:r>
              <a:rPr sz="1800"/>
              <a:t>Une anomalie détectée : prix d’achat &gt; prix de vente (à corriger).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Prix vs quantités vendues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/>
            </a:pPr>
            <a:r>
              <a:rPr sz="1800"/>
              <a:t>Nuage de points : relation inverse prix ↔ volumes (corrélation négative).</a:t>
            </a:r>
          </a:p>
          <a:p>
            <a:pPr>
              <a:defRPr sz="1800"/>
            </a:pPr>
            <a:r>
              <a:rPr sz="1800"/>
              <a:t>Interprétation : segmentation « premium » (prix élevé, faibles volumes) vs « cœur de gamme ».</a:t>
            </a:r>
          </a:p>
        </p:txBody>
      </p:sp>
      <p:pic>
        <p:nvPicPr>
          <p:cNvPr id="4" name="Picture 3" descr="price_vs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317" y="1889842"/>
            <a:ext cx="5113949" cy="32536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987</Words>
  <Application>Microsoft Office PowerPoint</Application>
  <PresentationFormat>Affichage à l'écran (16:9)</PresentationFormat>
  <Paragraphs>79</Paragraphs>
  <Slides>18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Arial</vt:lpstr>
      <vt:lpstr>Montserrat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Synthèse (résultats clés)</vt:lpstr>
      <vt:lpstr>Datasets – aperçu</vt:lpstr>
      <vt:lpstr>Fusion / consolidation</vt:lpstr>
      <vt:lpstr>Analyse univariée – Prix</vt:lpstr>
      <vt:lpstr>Chiffre d’affaires – Top 20 articles</vt:lpstr>
      <vt:lpstr>Chiffre d’affaires – Pareto</vt:lpstr>
      <vt:lpstr>Corrélations (prix, ventes, stock, marge)</vt:lpstr>
      <vt:lpstr>Stocks &amp; rotation</vt:lpstr>
      <vt:lpstr>Stocks – cas particuliers</vt:lpstr>
      <vt:lpstr>Marge – distribution &amp; anomalies</vt:lpstr>
      <vt:lpstr>Prix vs quantités vendues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Kevin Henkes</cp:lastModifiedBy>
  <cp:revision>3</cp:revision>
  <dcterms:modified xsi:type="dcterms:W3CDTF">2025-12-29T19:09:26Z</dcterms:modified>
</cp:coreProperties>
</file>